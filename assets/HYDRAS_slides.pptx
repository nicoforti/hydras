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62" r:id="rId9"/>
    <p:sldId id="263" r:id="rId10"/>
    <p:sldId id="264" r:id="rId11"/>
    <p:sldId id="266" r:id="rId12"/>
    <p:sldId id="277" r:id="rId13"/>
    <p:sldId id="267" r:id="rId14"/>
    <p:sldId id="268" r:id="rId15"/>
    <p:sldId id="274" r:id="rId16"/>
    <p:sldId id="275" r:id="rId17"/>
    <p:sldId id="276" r:id="rId18"/>
    <p:sldId id="270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sZrOK3l3M6ZMYWw9H6PZVzcug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0194" autoAdjust="0"/>
  </p:normalViewPr>
  <p:slideViewPr>
    <p:cSldViewPr snapToGrid="0">
      <p:cViewPr varScale="1">
        <p:scale>
          <a:sx n="116" d="100"/>
          <a:sy n="116" d="100"/>
        </p:scale>
        <p:origin x="52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La sorgente è fissa, ma il campo evolve: dopo aver rilevato il </a:t>
            </a:r>
            <a:r>
              <a:rPr lang="it-IT" dirty="0" err="1"/>
              <a:t>plume</a:t>
            </a:r>
            <a:r>
              <a:rPr lang="it-IT" dirty="0"/>
              <a:t>, vogliamo guidare il veicolo fino a un intorno della sorgente, senza conoscerne la posizione.</a:t>
            </a:r>
            <a:endParaRPr dirty="0"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Chen, Rhodes, Liu,</a:t>
            </a:r>
            <a:r>
              <a:rPr lang="en-US" dirty="0"/>
              <a:t> </a:t>
            </a:r>
            <a:r>
              <a:rPr lang="en-US" i="1" dirty="0"/>
              <a:t>Dual Control for Exploitation and Exploration (DCEE) in autonomous search</a:t>
            </a:r>
            <a:r>
              <a:rPr lang="en-US" dirty="0"/>
              <a:t>, </a:t>
            </a:r>
            <a:r>
              <a:rPr lang="en-US" b="1" dirty="0"/>
              <a:t>Automatica</a:t>
            </a:r>
            <a:r>
              <a:rPr lang="en-US" dirty="0"/>
              <a:t>, 2021.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Vergassola</a:t>
            </a:r>
            <a:r>
              <a:rPr lang="en-US" b="1" dirty="0"/>
              <a:t>, </a:t>
            </a:r>
            <a:r>
              <a:rPr lang="en-US" b="1" dirty="0" err="1"/>
              <a:t>Villermaux</a:t>
            </a:r>
            <a:r>
              <a:rPr lang="en-US" b="1" dirty="0"/>
              <a:t>, </a:t>
            </a:r>
            <a:r>
              <a:rPr lang="en-US" b="1" dirty="0" err="1"/>
              <a:t>Shraiman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i="1" dirty="0"/>
              <a:t>‘</a:t>
            </a:r>
            <a:r>
              <a:rPr lang="en-US" i="1" dirty="0" err="1"/>
              <a:t>Infotaxis</a:t>
            </a:r>
            <a:r>
              <a:rPr lang="en-US" i="1" dirty="0"/>
              <a:t>’ as a strategy for searching without gradients</a:t>
            </a:r>
            <a:r>
              <a:rPr lang="en-US" dirty="0"/>
              <a:t>, </a:t>
            </a:r>
            <a:r>
              <a:rPr lang="en-US" b="1" dirty="0"/>
              <a:t>Nature</a:t>
            </a:r>
            <a:r>
              <a:rPr lang="en-US" dirty="0"/>
              <a:t>, 2007.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Bio-inspired plume tracing: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</a:rPr>
              <a:t>Li, Farrell, Pang, Arrieta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800" i="1" dirty="0">
                <a:latin typeface="Verdana" panose="020B0604030504040204" pitchFamily="34" charset="0"/>
                <a:ea typeface="Verdana" panose="020B0604030504040204" pitchFamily="34" charset="0"/>
              </a:rPr>
              <a:t>Moth-inspired chemical plume tracing on an autonomous underwater vehicle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</a:rPr>
              <a:t>IEEE Transactions on Robotics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, 2006.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/>
              <a:t>Ariyur</a:t>
            </a:r>
            <a:r>
              <a:rPr lang="en-US" sz="800" dirty="0"/>
              <a:t> &amp; Krstić (2003), </a:t>
            </a:r>
            <a:r>
              <a:rPr lang="en-US" sz="800" i="1" dirty="0"/>
              <a:t>Real-Time Optimization by Extremum-Seeking Control</a:t>
            </a:r>
            <a:r>
              <a:rPr lang="en-US" sz="800" dirty="0"/>
              <a:t>, Wiley.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" dirty="0"/>
              <a:t>Intrappolamento di FCM nei massimi locali non va attribuito automaticamente a tutti i metodi training-free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</a:t>
            </a:r>
            <a:r>
              <a:rPr lang="en-US" dirty="0" err="1"/>
              <a:t>ibridi</a:t>
            </a:r>
            <a:r>
              <a:rPr lang="en-US" dirty="0"/>
              <a:t> e model-based RL.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: offline training in </a:t>
            </a:r>
            <a:r>
              <a:rPr lang="it-IT" dirty="0" err="1"/>
              <a:t>hydrodynamic</a:t>
            </a:r>
            <a:r>
              <a:rPr lang="it-IT" dirty="0"/>
              <a:t> </a:t>
            </a:r>
            <a:r>
              <a:rPr lang="it-IT" dirty="0" err="1"/>
              <a:t>simulations</a:t>
            </a:r>
            <a:r>
              <a:rPr lang="it-IT" dirty="0"/>
              <a:t>; online source </a:t>
            </a:r>
            <a:r>
              <a:rPr lang="it-IT" dirty="0" err="1"/>
              <a:t>seeking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a </a:t>
            </a:r>
            <a:r>
              <a:rPr lang="it-IT" dirty="0" err="1"/>
              <a:t>learned</a:t>
            </a:r>
            <a:r>
              <a:rPr lang="it-IT" dirty="0"/>
              <a:t> feedback policy.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 </a:t>
            </a:r>
            <a:r>
              <a:rPr lang="en-US" dirty="0" err="1"/>
              <a:t>sorgente</a:t>
            </a:r>
            <a:r>
              <a:rPr lang="en-US" dirty="0"/>
              <a:t> 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ambientali</a:t>
            </a:r>
            <a:r>
              <a:rPr lang="en-US" dirty="0"/>
              <a:t> non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osservabili</a:t>
            </a:r>
            <a:r>
              <a:rPr lang="en-US" dirty="0"/>
              <a:t>: il </a:t>
            </a:r>
            <a:r>
              <a:rPr lang="en-US" dirty="0" err="1"/>
              <a:t>controllore</a:t>
            </a:r>
            <a:r>
              <a:rPr lang="en-US" dirty="0"/>
              <a:t> </a:t>
            </a:r>
            <a:r>
              <a:rPr lang="en-US" dirty="0" err="1"/>
              <a:t>sceglie</a:t>
            </a:r>
            <a:r>
              <a:rPr lang="en-US" dirty="0"/>
              <a:t> le </a:t>
            </a:r>
            <a:r>
              <a:rPr lang="en-US" dirty="0" err="1"/>
              <a:t>azioni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misure</a:t>
            </a:r>
            <a:r>
              <a:rPr lang="en-US" dirty="0"/>
              <a:t> </a:t>
            </a:r>
            <a:r>
              <a:rPr lang="en-US" dirty="0" err="1"/>
              <a:t>locali</a:t>
            </a:r>
            <a:r>
              <a:rPr lang="en-US" dirty="0"/>
              <a:t> e memoria delle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raccolte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Plume </a:t>
            </a:r>
            <a:r>
              <a:rPr lang="it-IT" dirty="0" err="1"/>
              <a:t>memory</a:t>
            </a:r>
            <a:r>
              <a:rPr lang="it-IT" dirty="0"/>
              <a:t> features: max </a:t>
            </a:r>
            <a:r>
              <a:rPr lang="it-IT" dirty="0" err="1"/>
              <a:t>concentration</a:t>
            </a:r>
            <a:r>
              <a:rPr lang="it-IT" dirty="0"/>
              <a:t>, relative location, and time </a:t>
            </a:r>
            <a:r>
              <a:rPr lang="it-IT" dirty="0" err="1"/>
              <a:t>since</a:t>
            </a:r>
            <a:r>
              <a:rPr lang="it-IT" dirty="0"/>
              <a:t> last </a:t>
            </a:r>
            <a:r>
              <a:rPr lang="it-IT" dirty="0" err="1"/>
              <a:t>detection</a:t>
            </a:r>
            <a:r>
              <a:rPr lang="it-IT" dirty="0"/>
              <a:t>.</a:t>
            </a:r>
            <a:endParaRPr dirty="0"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12be406ea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412be406ea8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412be406ea8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12be406ea8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412be406ea8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412be406ea8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12be406ea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412be406ea8_1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412be406ea8_1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joint observation mimics spatially distributed measurements, but follower dynamics, communication, and formation transients are absent.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second ring tests whether a longer spatial look-ahead improves the learned policy.</a:t>
            </a:r>
            <a:endParaRPr/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architecture: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-Solid arrows are available during policy execution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-Dashed red arrows identify privileged source information and optimization operations used only during training or evaluation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True source distance determines reward and success, but it never enters the actor input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09b92d0dce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409b92d0dc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09b92d0dce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409b92d0dc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12be406ea8_1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412be406ea8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b935f413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 dirty="0" err="1"/>
              <a:t>Displacement</a:t>
            </a:r>
            <a:r>
              <a:rPr lang="it-IT" dirty="0"/>
              <a:t> history </a:t>
            </a:r>
            <a:r>
              <a:rPr lang="it-IT" dirty="0" err="1"/>
              <a:t>receives</a:t>
            </a:r>
            <a:r>
              <a:rPr lang="it-IT" dirty="0"/>
              <a:t> high </a:t>
            </a:r>
            <a:r>
              <a:rPr lang="it-IT" dirty="0" err="1"/>
              <a:t>attribution</a:t>
            </a:r>
            <a:r>
              <a:rPr lang="it-IT" dirty="0"/>
              <a:t> in </a:t>
            </a:r>
            <a:r>
              <a:rPr lang="it-IT" dirty="0" err="1"/>
              <a:t>both</a:t>
            </a:r>
            <a:r>
              <a:rPr lang="it-IT" dirty="0"/>
              <a:t> policies.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 dirty="0"/>
              <a:t>With ring sensing, </a:t>
            </a:r>
            <a:r>
              <a:rPr lang="it-IT" dirty="0" err="1"/>
              <a:t>current</a:t>
            </a:r>
            <a:r>
              <a:rPr lang="it-IT" dirty="0"/>
              <a:t> information and </a:t>
            </a:r>
            <a:r>
              <a:rPr lang="it-IT" dirty="0" err="1"/>
              <a:t>inner</a:t>
            </a:r>
            <a:r>
              <a:rPr lang="it-IT" dirty="0"/>
              <a:t>-ring </a:t>
            </a:r>
            <a:r>
              <a:rPr lang="it-IT" dirty="0" err="1"/>
              <a:t>measurement</a:t>
            </a:r>
            <a:r>
              <a:rPr lang="it-IT" dirty="0"/>
              <a:t> history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receive</a:t>
            </a:r>
            <a:r>
              <a:rPr lang="it-IT" dirty="0"/>
              <a:t> high </a:t>
            </a:r>
            <a:r>
              <a:rPr lang="it-IT" dirty="0" err="1"/>
              <a:t>attribution</a:t>
            </a:r>
            <a:r>
              <a:rPr lang="it-IT" dirty="0"/>
              <a:t>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 dirty="0"/>
              <a:t>Task-</a:t>
            </a:r>
            <a:r>
              <a:rPr lang="it-IT" dirty="0" err="1"/>
              <a:t>level</a:t>
            </a:r>
            <a:r>
              <a:rPr lang="it-IT" dirty="0"/>
              <a:t> </a:t>
            </a:r>
            <a:r>
              <a:rPr lang="it-IT" dirty="0" err="1"/>
              <a:t>importance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assessed</a:t>
            </a:r>
            <a:r>
              <a:rPr lang="it-IT" dirty="0"/>
              <a:t> </a:t>
            </a:r>
            <a:r>
              <a:rPr lang="it-IT" dirty="0" err="1"/>
              <a:t>separately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rollout</a:t>
            </a:r>
            <a:r>
              <a:rPr lang="it-IT" dirty="0"/>
              <a:t> </a:t>
            </a:r>
            <a:r>
              <a:rPr lang="it-IT" dirty="0" err="1"/>
              <a:t>ablations</a:t>
            </a:r>
            <a:r>
              <a:rPr lang="it-IT" dirty="0"/>
              <a:t>.</a:t>
            </a:r>
            <a:endParaRPr dirty="0"/>
          </a:p>
        </p:txBody>
      </p:sp>
      <p:sp>
        <p:nvSpPr>
          <p:cNvPr id="232" name="Google Shape;232;g409b935f413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ertina">
  <p:cSld name="Copertina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-175260" y="-76200"/>
            <a:ext cx="9319260" cy="5219701"/>
          </a:xfrm>
          <a:prstGeom prst="rect">
            <a:avLst/>
          </a:prstGeom>
          <a:solidFill>
            <a:srgbClr val="1D2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1257301" y="1617760"/>
            <a:ext cx="7043738" cy="9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25"/>
              <a:buFont typeface="Verdana"/>
              <a:buNone/>
              <a:defRPr sz="2625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1257301" y="2608876"/>
            <a:ext cx="7043738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None/>
              <a:defRPr sz="1875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14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714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714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714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/>
          <p:nvPr/>
        </p:nvSpPr>
        <p:spPr>
          <a:xfrm>
            <a:off x="0" y="4120161"/>
            <a:ext cx="5379244" cy="2678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7"/>
          <p:cNvSpPr txBox="1">
            <a:spLocks noGrp="1"/>
          </p:cNvSpPr>
          <p:nvPr>
            <p:ph type="body" idx="2"/>
          </p:nvPr>
        </p:nvSpPr>
        <p:spPr>
          <a:xfrm>
            <a:off x="1200950" y="4120162"/>
            <a:ext cx="4178299" cy="2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D2A4F"/>
              </a:buClr>
              <a:buSzPts val="1500"/>
              <a:buFont typeface="Arial"/>
              <a:buNone/>
              <a:defRPr sz="1500" b="1" i="0" u="none" strike="noStrike" cap="none">
                <a:solidFill>
                  <a:srgbClr val="1D2A4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body" idx="3"/>
          </p:nvPr>
        </p:nvSpPr>
        <p:spPr>
          <a:xfrm>
            <a:off x="1200949" y="4388052"/>
            <a:ext cx="4178299" cy="2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4C7E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rgbClr val="004C7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7" name="Google Shape;1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3780" y="148098"/>
            <a:ext cx="1587500" cy="107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7" descr="Immagine che contiene disegno, simbolo, Elementi grafici, schizzo&#10;&#10;Descrizione generata automaticamente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3631721" y="1171255"/>
            <a:ext cx="5512280" cy="568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7" descr="Immagine che contiene testo, Carattere, simbolo, Elementi grafici&#10;&#10;Il contenuto generato dall'IA potrebbe non essere corret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192" y="185175"/>
            <a:ext cx="2905140" cy="115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na_solo testo">
  <p:cSld name="Interna_solo test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8" descr="HR Excellence in Research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500" y="95920"/>
            <a:ext cx="883351" cy="5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  <a:defRPr sz="82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643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8"/>
          <p:cNvSpPr txBox="1"/>
          <p:nvPr/>
        </p:nvSpPr>
        <p:spPr>
          <a:xfrm>
            <a:off x="7799253" y="4940117"/>
            <a:ext cx="101907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19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619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2"/>
          </p:nvPr>
        </p:nvSpPr>
        <p:spPr>
          <a:xfrm>
            <a:off x="714375" y="1361238"/>
            <a:ext cx="8103948" cy="33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ourier New"/>
              <a:buNone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ourier New"/>
              <a:buChar char="o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6" name="Google Shape;26;p18"/>
          <p:cNvCxnSpPr/>
          <p:nvPr/>
        </p:nvCxnSpPr>
        <p:spPr>
          <a:xfrm>
            <a:off x="-6484" y="4927147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7" name="Google Shape;27;p18" descr="Immagine che contiene Carattere, simbolo, design, tipografia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03" y="123560"/>
            <a:ext cx="1123525" cy="44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na_3 colonne">
  <p:cSld name="Interna_3 colonn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714380" y="2087137"/>
            <a:ext cx="2242583" cy="274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Fira Sans"/>
              <a:buNone/>
              <a:defRPr sz="1050" b="0" i="0" u="none" strike="noStrike" cap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9527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2"/>
          </p:nvPr>
        </p:nvSpPr>
        <p:spPr>
          <a:xfrm>
            <a:off x="3408447" y="2087137"/>
            <a:ext cx="2327115" cy="274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Fira Sans"/>
              <a:buNone/>
              <a:defRPr sz="1050" b="0" i="0" u="none" strike="noStrike" cap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9527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3"/>
          </p:nvPr>
        </p:nvSpPr>
        <p:spPr>
          <a:xfrm>
            <a:off x="6187050" y="2087137"/>
            <a:ext cx="2327115" cy="274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Fira Sans"/>
              <a:buNone/>
              <a:defRPr sz="1050" b="0" i="0" u="none" strike="noStrike" cap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9527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4"/>
          </p:nvPr>
        </p:nvSpPr>
        <p:spPr>
          <a:xfrm>
            <a:off x="713187" y="1431580"/>
            <a:ext cx="224258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27272"/>
              </a:buClr>
              <a:buSzPts val="1125"/>
              <a:buFont typeface="Arial"/>
              <a:buNone/>
              <a:defRPr sz="1125" b="1" i="0" u="none" strike="noStrike" cap="none">
                <a:solidFill>
                  <a:srgbClr val="7272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5"/>
          </p:nvPr>
        </p:nvSpPr>
        <p:spPr>
          <a:xfrm>
            <a:off x="3408447" y="1431579"/>
            <a:ext cx="232711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27272"/>
              </a:buClr>
              <a:buSzPts val="1125"/>
              <a:buFont typeface="Arial"/>
              <a:buNone/>
              <a:defRPr sz="1125" b="1" i="0" u="none" strike="noStrike" cap="none">
                <a:solidFill>
                  <a:srgbClr val="7272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6"/>
          </p:nvPr>
        </p:nvSpPr>
        <p:spPr>
          <a:xfrm>
            <a:off x="6187050" y="1431579"/>
            <a:ext cx="232711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27272"/>
              </a:buClr>
              <a:buSzPts val="1125"/>
              <a:buFont typeface="Arial"/>
              <a:buNone/>
              <a:defRPr sz="1125" b="1" i="0" u="none" strike="noStrike" cap="none">
                <a:solidFill>
                  <a:srgbClr val="7272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8" name="Google Shape;38;p19" descr="HR Excellence in Research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500" y="95920"/>
            <a:ext cx="883351" cy="5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9"/>
          <p:cNvSpPr txBox="1">
            <a:spLocks noGrp="1"/>
          </p:cNvSpPr>
          <p:nvPr>
            <p:ph type="body" idx="7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  <a:defRPr sz="82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643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9"/>
          <p:cNvSpPr txBox="1"/>
          <p:nvPr/>
        </p:nvSpPr>
        <p:spPr>
          <a:xfrm>
            <a:off x="7799253" y="4940117"/>
            <a:ext cx="101907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19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619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1" name="Google Shape;41;p19"/>
          <p:cNvCxnSpPr/>
          <p:nvPr/>
        </p:nvCxnSpPr>
        <p:spPr>
          <a:xfrm>
            <a:off x="-6484" y="4927147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2" name="Google Shape;42;p19" descr="Immagine che contiene Carattere, simbolo, design, tipografia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03" y="123560"/>
            <a:ext cx="1123525" cy="44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na_tabella">
  <p:cSld name="Interna_tabella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93322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20"/>
          <p:cNvSpPr>
            <a:spLocks noGrp="1"/>
          </p:cNvSpPr>
          <p:nvPr>
            <p:ph type="tbl" idx="2"/>
          </p:nvPr>
        </p:nvSpPr>
        <p:spPr>
          <a:xfrm>
            <a:off x="714375" y="1510402"/>
            <a:ext cx="8193088" cy="323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Verdana"/>
              <a:buNone/>
              <a:defRPr sz="187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6" name="Google Shape;46;p20" descr="HR Excellence in Research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500" y="95920"/>
            <a:ext cx="883351" cy="5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0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  <a:defRPr sz="82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643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0"/>
          <p:cNvSpPr txBox="1"/>
          <p:nvPr/>
        </p:nvSpPr>
        <p:spPr>
          <a:xfrm>
            <a:off x="7799253" y="4940117"/>
            <a:ext cx="101907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19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619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9" name="Google Shape;49;p20"/>
          <p:cNvCxnSpPr/>
          <p:nvPr/>
        </p:nvCxnSpPr>
        <p:spPr>
          <a:xfrm>
            <a:off x="-6484" y="4927147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0" name="Google Shape;50;p20" descr="Immagine che contiene Carattere, simbolo, design, tipografia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03" y="123560"/>
            <a:ext cx="1123525" cy="44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na_immagine+testo">
  <p:cSld name="Interna_immagine+test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>
            <a:spLocks noGrp="1"/>
          </p:cNvSpPr>
          <p:nvPr>
            <p:ph type="body" idx="1"/>
          </p:nvPr>
        </p:nvSpPr>
        <p:spPr>
          <a:xfrm>
            <a:off x="5790427" y="1439857"/>
            <a:ext cx="3117275" cy="269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929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92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92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92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1"/>
          <p:cNvSpPr>
            <a:spLocks noGrp="1"/>
          </p:cNvSpPr>
          <p:nvPr>
            <p:ph type="pic" idx="2"/>
          </p:nvPr>
        </p:nvSpPr>
        <p:spPr>
          <a:xfrm>
            <a:off x="246588" y="1439856"/>
            <a:ext cx="5399999" cy="2598221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93322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3"/>
          </p:nvPr>
        </p:nvSpPr>
        <p:spPr>
          <a:xfrm>
            <a:off x="6" y="3777264"/>
            <a:ext cx="5399999" cy="604241"/>
          </a:xfrm>
          <a:prstGeom prst="rect">
            <a:avLst/>
          </a:prstGeom>
          <a:solidFill>
            <a:srgbClr val="1D2A4F">
              <a:alpha val="6902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125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6" name="Google Shape;56;p21" descr="HR Excellence in Research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500" y="95920"/>
            <a:ext cx="883351" cy="5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4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  <a:defRPr sz="82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643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1"/>
          <p:cNvSpPr txBox="1"/>
          <p:nvPr/>
        </p:nvSpPr>
        <p:spPr>
          <a:xfrm>
            <a:off x="7799253" y="4940117"/>
            <a:ext cx="101907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19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619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9" name="Google Shape;59;p21"/>
          <p:cNvCxnSpPr/>
          <p:nvPr/>
        </p:nvCxnSpPr>
        <p:spPr>
          <a:xfrm>
            <a:off x="-6484" y="4927147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0" name="Google Shape;60;p21" descr="Immagine che contiene Carattere, simbolo, design, tipografia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03" y="123560"/>
            <a:ext cx="1123525" cy="44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rocopertina">
  <p:cSld name="Controcopertina">
    <p:bg>
      <p:bgPr>
        <a:solidFill>
          <a:srgbClr val="1D2A4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1D2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248400" y="4956929"/>
            <a:ext cx="7574104" cy="1865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4C7E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4C7E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2"/>
          </p:nvPr>
        </p:nvSpPr>
        <p:spPr>
          <a:xfrm>
            <a:off x="698598" y="2366733"/>
            <a:ext cx="8261350" cy="3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225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3"/>
          </p:nvPr>
        </p:nvSpPr>
        <p:spPr>
          <a:xfrm>
            <a:off x="698641" y="2800561"/>
            <a:ext cx="8261306" cy="36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None/>
              <a:defRPr sz="1875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4"/>
          </p:nvPr>
        </p:nvSpPr>
        <p:spPr>
          <a:xfrm>
            <a:off x="698598" y="3468284"/>
            <a:ext cx="6249988" cy="23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5"/>
          </p:nvPr>
        </p:nvSpPr>
        <p:spPr>
          <a:xfrm>
            <a:off x="698643" y="3769619"/>
            <a:ext cx="6249988" cy="21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6"/>
          </p:nvPr>
        </p:nvSpPr>
        <p:spPr>
          <a:xfrm>
            <a:off x="698643" y="4042025"/>
            <a:ext cx="6249988" cy="24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>
            <a:off x="698598" y="1206937"/>
            <a:ext cx="8261306" cy="70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Verdana"/>
              <a:buNone/>
              <a:defRPr sz="3375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2" name="Google Shape;8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17839" y="110708"/>
            <a:ext cx="1042065" cy="70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3" descr="Immagine che contiene testo, Carattere, simbolo, Elementi grafici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987" y="143269"/>
            <a:ext cx="1591786" cy="6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erna_immagine">
  <p:cSld name="1_Interna_immagin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>
            <a:spLocks noGrp="1"/>
          </p:cNvSpPr>
          <p:nvPr>
            <p:ph type="pic" idx="2"/>
          </p:nvPr>
        </p:nvSpPr>
        <p:spPr>
          <a:xfrm>
            <a:off x="1" y="1439854"/>
            <a:ext cx="9144000" cy="3355389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93322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6" y="3777264"/>
            <a:ext cx="5399999" cy="604241"/>
          </a:xfrm>
          <a:prstGeom prst="rect">
            <a:avLst/>
          </a:prstGeom>
          <a:solidFill>
            <a:srgbClr val="1D2A4F">
              <a:alpha val="5607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125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8" name="Google Shape;88;p24" descr="HR Excellence in Research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500" y="95920"/>
            <a:ext cx="883351" cy="5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4"/>
          <p:cNvSpPr txBox="1">
            <a:spLocks noGrp="1"/>
          </p:cNvSpPr>
          <p:nvPr>
            <p:ph type="body" idx="3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  <a:defRPr sz="82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643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/>
          <p:nvPr/>
        </p:nvSpPr>
        <p:spPr>
          <a:xfrm>
            <a:off x="7799253" y="4940117"/>
            <a:ext cx="101907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19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619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1" name="Google Shape;91;p24"/>
          <p:cNvCxnSpPr/>
          <p:nvPr/>
        </p:nvCxnSpPr>
        <p:spPr>
          <a:xfrm>
            <a:off x="-6484" y="4927147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24" descr="Immagine che contiene Carattere, simbolo, design, tipografia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03" y="123560"/>
            <a:ext cx="1123525" cy="445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ola chiave">
  <p:cSld name="Parola chiave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1D2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5"/>
          <p:cNvSpPr txBox="1">
            <a:spLocks noGrp="1"/>
          </p:cNvSpPr>
          <p:nvPr>
            <p:ph type="title"/>
          </p:nvPr>
        </p:nvSpPr>
        <p:spPr>
          <a:xfrm>
            <a:off x="1257301" y="1425256"/>
            <a:ext cx="7043738" cy="11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96" name="Google Shape;96;p25" descr="Immagine che contiene disegno, simbolo, Elementi grafici, schizzo&#10;&#10;Descrizione generata automaticamente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2722702" y="233464"/>
            <a:ext cx="6421298" cy="6624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na_2 colonne">
  <p:cSld name="Interna_2 colonn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714378" y="1883539"/>
            <a:ext cx="3709185" cy="297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Fira Sans"/>
              <a:buNone/>
              <a:defRPr sz="1050" b="0" i="0" u="none" strike="noStrike" cap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4720441" y="1883539"/>
            <a:ext cx="3793718" cy="297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Fira Sans"/>
              <a:buNone/>
              <a:defRPr sz="1050" b="0" i="0" u="none" strike="noStrike" cap="non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None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713184" y="1434207"/>
            <a:ext cx="3709186" cy="40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27272"/>
              </a:buClr>
              <a:buSzPts val="1125"/>
              <a:buFont typeface="Arial"/>
              <a:buNone/>
              <a:defRPr sz="1125" b="1" i="0" u="none" strike="noStrike" cap="none">
                <a:solidFill>
                  <a:srgbClr val="7272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4720441" y="1434205"/>
            <a:ext cx="3793718" cy="40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27272"/>
              </a:buClr>
              <a:buSzPts val="1125"/>
              <a:buFont typeface="Arial"/>
              <a:buNone/>
              <a:defRPr sz="1125" b="1" i="0" u="none" strike="noStrike" cap="none">
                <a:solidFill>
                  <a:srgbClr val="7272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49" name="Google Shape;49;p22"/>
          <p:cNvCxnSpPr/>
          <p:nvPr/>
        </p:nvCxnSpPr>
        <p:spPr>
          <a:xfrm>
            <a:off x="4572000" y="1879277"/>
            <a:ext cx="0" cy="2975486"/>
          </a:xfrm>
          <a:prstGeom prst="straightConnector1">
            <a:avLst/>
          </a:prstGeom>
          <a:noFill/>
          <a:ln w="12700" cap="flat" cmpd="sng">
            <a:solidFill>
              <a:srgbClr val="1D2A4F"/>
            </a:solidFill>
            <a:prstDash val="solid"/>
            <a:miter lim="0"/>
            <a:headEnd type="none" w="sm" len="sm"/>
            <a:tailEnd type="none" w="sm" len="sm"/>
          </a:ln>
        </p:spPr>
      </p:cxnSp>
      <p:pic>
        <p:nvPicPr>
          <p:cNvPr id="50" name="Google Shape;50;p22" descr="HR Excellence in Research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500" y="95920"/>
            <a:ext cx="883351" cy="5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2"/>
          <p:cNvSpPr txBox="1">
            <a:spLocks noGrp="1"/>
          </p:cNvSpPr>
          <p:nvPr>
            <p:ph type="body" idx="5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  <a:defRPr sz="825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2643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6435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563"/>
              <a:buFont typeface="Arial"/>
              <a:buChar char="•"/>
              <a:defRPr sz="5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/>
          <p:nvPr/>
        </p:nvSpPr>
        <p:spPr>
          <a:xfrm>
            <a:off x="7799253" y="4940117"/>
            <a:ext cx="1019070" cy="18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9"/>
              <a:buFont typeface="Arial"/>
              <a:buNone/>
            </a:pPr>
            <a:fld id="{00000000-1234-1234-1234-123412341234}" type="slidenum">
              <a:rPr lang="en-US" sz="619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619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3" name="Google Shape;53;p22"/>
          <p:cNvCxnSpPr/>
          <p:nvPr/>
        </p:nvCxnSpPr>
        <p:spPr>
          <a:xfrm>
            <a:off x="-6484" y="4927147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0"/>
            <a:headEnd type="none" w="sm" len="sm"/>
            <a:tailEnd type="none" w="sm" len="sm"/>
          </a:ln>
        </p:spPr>
      </p:cxnSp>
      <p:pic>
        <p:nvPicPr>
          <p:cNvPr id="54" name="Google Shape;54;p22" descr="Immagine che contiene Carattere, simbolo, design, tipografia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03" y="123560"/>
            <a:ext cx="1123525" cy="445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24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QnJQmOQxu2nWe8HrpFq64yLaUKaWycBV/vi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hyperlink" Target="http://drive.google.com/file/d/1ELhrWD9JXkeTfoCnytjDXinZ_DZKa8C0/view" TargetMode="External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title"/>
          </p:nvPr>
        </p:nvSpPr>
        <p:spPr>
          <a:xfrm>
            <a:off x="1257301" y="1617761"/>
            <a:ext cx="7043738" cy="58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</a:pPr>
            <a:r>
              <a:rPr lang="en-US"/>
              <a:t>HYDRAS</a:t>
            </a:r>
            <a:endParaRPr/>
          </a:p>
        </p:txBody>
      </p:sp>
      <p:sp>
        <p:nvSpPr>
          <p:cNvPr id="103" name="Google Shape;103;p1"/>
          <p:cNvSpPr txBox="1">
            <a:spLocks noGrp="1"/>
          </p:cNvSpPr>
          <p:nvPr>
            <p:ph type="body" idx="1"/>
          </p:nvPr>
        </p:nvSpPr>
        <p:spPr>
          <a:xfrm>
            <a:off x="1257301" y="2200884"/>
            <a:ext cx="7043738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HYdrodynamic-aware Distributed Robots for mArine Source-seeking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1200950" y="4120162"/>
            <a:ext cx="4178299" cy="2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2A4F"/>
              </a:buClr>
              <a:buSzPts val="1500"/>
              <a:buNone/>
            </a:pP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body" idx="3"/>
          </p:nvPr>
        </p:nvSpPr>
        <p:spPr>
          <a:xfrm>
            <a:off x="1200949" y="4388052"/>
            <a:ext cx="4178299" cy="2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521829" y="713183"/>
            <a:ext cx="4288494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dirty="0"/>
              <a:t>Marine source seeking</a:t>
            </a:r>
            <a:endParaRPr dirty="0"/>
          </a:p>
        </p:txBody>
      </p:sp>
      <p:sp>
        <p:nvSpPr>
          <p:cNvPr id="112" name="Google Shape;112;p2"/>
          <p:cNvSpPr txBox="1">
            <a:spLocks noGrp="1"/>
          </p:cNvSpPr>
          <p:nvPr>
            <p:ph type="body" idx="2"/>
          </p:nvPr>
        </p:nvSpPr>
        <p:spPr>
          <a:xfrm>
            <a:off x="521829" y="1361250"/>
            <a:ext cx="6350026" cy="3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7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ourier New"/>
              <a:buNone/>
            </a:pPr>
            <a:r>
              <a:rPr lang="en-US" sz="1250" b="1" dirty="0">
                <a:solidFill>
                  <a:schemeClr val="accent4"/>
                </a:solidFill>
              </a:rPr>
              <a:t>Guide autonomous marine vehicles toward an unknown pollutant source using pointwise concentration measurements</a:t>
            </a:r>
            <a:endParaRPr sz="1250" dirty="0"/>
          </a:p>
          <a:p>
            <a:pPr marL="4466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ourier New"/>
              <a:buNone/>
            </a:pPr>
            <a:endParaRPr u="sng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100" b="1" dirty="0"/>
              <a:t>Local sensing in </a:t>
            </a:r>
            <a:r>
              <a:rPr lang="it-IT" sz="1100" b="1" dirty="0" err="1"/>
              <a:t>space</a:t>
            </a:r>
            <a:r>
              <a:rPr lang="it-IT" sz="1100" b="1" dirty="0"/>
              <a:t> and time: </a:t>
            </a:r>
            <a:r>
              <a:rPr lang="it-IT" sz="1100" dirty="0" err="1"/>
              <a:t>each</a:t>
            </a:r>
            <a:r>
              <a:rPr lang="it-IT" sz="1100" dirty="0"/>
              <a:t> </a:t>
            </a:r>
            <a:r>
              <a:rPr lang="it-IT" sz="1100" dirty="0" err="1"/>
              <a:t>sensor</a:t>
            </a:r>
            <a:r>
              <a:rPr lang="it-IT" sz="1100" dirty="0"/>
              <a:t> </a:t>
            </a:r>
            <a:r>
              <a:rPr lang="it-IT" sz="1100" dirty="0" err="1"/>
              <a:t>measures</a:t>
            </a:r>
            <a:r>
              <a:rPr lang="it-IT" sz="1100" dirty="0"/>
              <a:t> </a:t>
            </a:r>
            <a:r>
              <a:rPr lang="it-IT" sz="1100" dirty="0" err="1"/>
              <a:t>concentration</a:t>
            </a:r>
            <a:r>
              <a:rPr lang="it-IT" sz="1100" dirty="0"/>
              <a:t> </a:t>
            </a:r>
            <a:r>
              <a:rPr lang="it-IT" sz="1100" dirty="0" err="1"/>
              <a:t>at</a:t>
            </a:r>
            <a:r>
              <a:rPr lang="it-IT" sz="1100" dirty="0"/>
              <a:t> </a:t>
            </a:r>
            <a:r>
              <a:rPr lang="it-IT" sz="1100" dirty="0" err="1"/>
              <a:t>its</a:t>
            </a:r>
            <a:r>
              <a:rPr lang="it-IT" sz="1100" dirty="0"/>
              <a:t> </a:t>
            </a:r>
            <a:r>
              <a:rPr lang="it-IT" sz="1100" dirty="0" err="1"/>
              <a:t>own</a:t>
            </a:r>
            <a:r>
              <a:rPr lang="it-IT" sz="1100" dirty="0"/>
              <a:t> location </a:t>
            </a:r>
            <a:r>
              <a:rPr lang="it-IT" sz="1100" dirty="0" err="1"/>
              <a:t>at</a:t>
            </a:r>
            <a:r>
              <a:rPr lang="it-IT" sz="1100" dirty="0"/>
              <a:t> discrete sampling times, </a:t>
            </a:r>
            <a:r>
              <a:rPr lang="it-IT" sz="1100" dirty="0" err="1"/>
              <a:t>without</a:t>
            </a:r>
            <a:r>
              <a:rPr lang="it-IT" sz="1100" dirty="0"/>
              <a:t> </a:t>
            </a:r>
            <a:r>
              <a:rPr lang="it-IT" sz="1100" dirty="0" err="1"/>
              <a:t>observing</a:t>
            </a:r>
            <a:r>
              <a:rPr lang="it-IT" sz="1100" dirty="0"/>
              <a:t> the full field or the source position</a:t>
            </a:r>
            <a:endParaRPr sz="1100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endParaRPr lang="it-IT" sz="1100" b="1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100" b="1" dirty="0"/>
              <a:t>Dynamic </a:t>
            </a:r>
            <a:r>
              <a:rPr lang="it-IT" sz="1100" b="1" dirty="0" err="1"/>
              <a:t>concentration</a:t>
            </a:r>
            <a:r>
              <a:rPr lang="it-IT" sz="1100" b="1" dirty="0"/>
              <a:t> field: </a:t>
            </a:r>
            <a:r>
              <a:rPr lang="it-IT" sz="1100" dirty="0" err="1"/>
              <a:t>advection</a:t>
            </a:r>
            <a:r>
              <a:rPr lang="it-IT" sz="1100" dirty="0"/>
              <a:t> and </a:t>
            </a:r>
            <a:r>
              <a:rPr lang="it-IT" sz="1100" dirty="0" err="1"/>
              <a:t>diffusion</a:t>
            </a:r>
            <a:r>
              <a:rPr lang="it-IT" sz="1100" dirty="0"/>
              <a:t> </a:t>
            </a:r>
            <a:r>
              <a:rPr lang="it-IT" sz="1100" dirty="0" err="1"/>
              <a:t>redistribute</a:t>
            </a:r>
            <a:r>
              <a:rPr lang="it-IT" sz="1100" dirty="0"/>
              <a:t> the pollutant, so the </a:t>
            </a:r>
            <a:r>
              <a:rPr lang="it-IT" sz="1100" dirty="0" err="1"/>
              <a:t>local</a:t>
            </a:r>
            <a:r>
              <a:rPr lang="it-IT" sz="1100" dirty="0"/>
              <a:t> </a:t>
            </a:r>
            <a:r>
              <a:rPr lang="it-IT" sz="1100" dirty="0" err="1"/>
              <a:t>concentration</a:t>
            </a:r>
            <a:r>
              <a:rPr lang="it-IT" sz="1100" dirty="0"/>
              <a:t> </a:t>
            </a:r>
            <a:r>
              <a:rPr lang="it-IT" sz="1100" dirty="0" err="1"/>
              <a:t>gradient</a:t>
            </a:r>
            <a:r>
              <a:rPr lang="it-IT" sz="1100" dirty="0"/>
              <a:t> </a:t>
            </a:r>
            <a:r>
              <a:rPr lang="it-IT" sz="1100" dirty="0" err="1"/>
              <a:t>may</a:t>
            </a:r>
            <a:r>
              <a:rPr lang="it-IT" sz="1100" dirty="0"/>
              <a:t> </a:t>
            </a:r>
            <a:r>
              <a:rPr lang="it-IT" sz="1100" dirty="0" err="1"/>
              <a:t>not</a:t>
            </a:r>
            <a:r>
              <a:rPr lang="it-IT" sz="1100" dirty="0"/>
              <a:t> point </a:t>
            </a:r>
            <a:r>
              <a:rPr lang="it-IT" sz="1100" dirty="0" err="1"/>
              <a:t>toward</a:t>
            </a:r>
            <a:r>
              <a:rPr lang="it-IT" sz="1100" dirty="0"/>
              <a:t> the source</a:t>
            </a:r>
            <a:endParaRPr lang="it-IT" sz="1100" b="1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endParaRPr lang="it-IT" sz="1100" b="1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100" b="1" dirty="0"/>
              <a:t>Motion </a:t>
            </a:r>
            <a:r>
              <a:rPr lang="it-IT" sz="1100" b="1" dirty="0" err="1"/>
              <a:t>guided</a:t>
            </a:r>
            <a:r>
              <a:rPr lang="it-IT" sz="1100" b="1" dirty="0"/>
              <a:t> by </a:t>
            </a:r>
            <a:r>
              <a:rPr lang="it-IT" sz="1100" b="1" dirty="0" err="1"/>
              <a:t>measurements</a:t>
            </a:r>
            <a:r>
              <a:rPr lang="it-IT" sz="1100" b="1" dirty="0"/>
              <a:t>:</a:t>
            </a:r>
            <a:r>
              <a:rPr lang="it-IT" sz="1100" dirty="0"/>
              <a:t> use successive </a:t>
            </a:r>
            <a:r>
              <a:rPr lang="it-IT" sz="1100" dirty="0" err="1"/>
              <a:t>observations</a:t>
            </a:r>
            <a:r>
              <a:rPr lang="it-IT" sz="1100" dirty="0"/>
              <a:t> to decide </a:t>
            </a:r>
            <a:r>
              <a:rPr lang="it-IT" sz="1100" dirty="0" err="1"/>
              <a:t>where</a:t>
            </a:r>
            <a:r>
              <a:rPr lang="it-IT" sz="1100" dirty="0"/>
              <a:t> to sample </a:t>
            </a:r>
            <a:r>
              <a:rPr lang="it-IT" sz="1100" dirty="0" err="1"/>
              <a:t>next</a:t>
            </a:r>
            <a:r>
              <a:rPr lang="it-IT" sz="1100" dirty="0"/>
              <a:t> and </a:t>
            </a:r>
            <a:r>
              <a:rPr lang="it-IT" sz="1100" dirty="0" err="1"/>
              <a:t>steer</a:t>
            </a:r>
            <a:r>
              <a:rPr lang="it-IT" sz="1100" dirty="0"/>
              <a:t> the </a:t>
            </a:r>
            <a:r>
              <a:rPr lang="it-IT" sz="1100" dirty="0" err="1"/>
              <a:t>vehicles</a:t>
            </a:r>
            <a:r>
              <a:rPr lang="it-IT" sz="1100" dirty="0"/>
              <a:t> </a:t>
            </a:r>
            <a:r>
              <a:rPr lang="it-IT" sz="1100" dirty="0" err="1"/>
              <a:t>toward</a:t>
            </a:r>
            <a:r>
              <a:rPr lang="it-IT" sz="1100" dirty="0"/>
              <a:t> the source </a:t>
            </a:r>
            <a:r>
              <a:rPr lang="it-IT" sz="1100" dirty="0" err="1"/>
              <a:t>as</a:t>
            </a:r>
            <a:r>
              <a:rPr lang="it-IT" sz="1100" dirty="0"/>
              <a:t> the field </a:t>
            </a:r>
            <a:r>
              <a:rPr lang="it-IT" sz="1100" dirty="0" err="1"/>
              <a:t>evolves</a:t>
            </a:r>
            <a:endParaRPr lang="it-IT" sz="1100" b="1" dirty="0"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pic>
        <p:nvPicPr>
          <p:cNvPr id="3" name="Google Shape;114;p2" title="immagine_introduzione_formazione.png">
            <a:extLst>
              <a:ext uri="{FF2B5EF4-FFF2-40B4-BE49-F238E27FC236}">
                <a16:creationId xmlns:a16="http://schemas.microsoft.com/office/drawing/2014/main" id="{8A165050-76BE-C932-DCBF-8900E09919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0" r="150"/>
          <a:stretch/>
        </p:blipFill>
        <p:spPr>
          <a:xfrm>
            <a:off x="6636326" y="1033655"/>
            <a:ext cx="2245307" cy="1934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503E3E6-4852-6A28-4430-471387ED7A51}"/>
              </a:ext>
            </a:extLst>
          </p:cNvPr>
          <p:cNvSpPr/>
          <p:nvPr/>
        </p:nvSpPr>
        <p:spPr>
          <a:xfrm>
            <a:off x="3073707" y="1097938"/>
            <a:ext cx="5817265" cy="316624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98AE264-ABE4-FB20-4C6B-B552D6B46146}"/>
              </a:ext>
            </a:extLst>
          </p:cNvPr>
          <p:cNvSpPr/>
          <p:nvPr/>
        </p:nvSpPr>
        <p:spPr>
          <a:xfrm>
            <a:off x="253027" y="1097938"/>
            <a:ext cx="2722735" cy="3166247"/>
          </a:xfrm>
          <a:prstGeom prst="roundRect">
            <a:avLst/>
          </a:prstGeom>
          <a:solidFill>
            <a:schemeClr val="tx2">
              <a:lumMod val="85000"/>
              <a:alpha val="4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417839" y="626650"/>
            <a:ext cx="588850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Source-seeking methods: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approaches</a:t>
            </a:r>
            <a:endParaRPr dirty="0"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4"/>
          </p:nvPr>
        </p:nvSpPr>
        <p:spPr>
          <a:xfrm>
            <a:off x="789938" y="1188578"/>
            <a:ext cx="1662868" cy="3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</a:pPr>
            <a:r>
              <a:rPr lang="en-US" sz="1400" dirty="0">
                <a:solidFill>
                  <a:schemeClr val="accent4"/>
                </a:solidFill>
              </a:rPr>
              <a:t>MODEL-BASED</a:t>
            </a:r>
            <a:endParaRPr sz="1400" dirty="0">
              <a:solidFill>
                <a:schemeClr val="accent4"/>
              </a:solidFill>
            </a:endParaRPr>
          </a:p>
        </p:txBody>
      </p:sp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335432" y="1723413"/>
            <a:ext cx="2557923" cy="241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</a:pPr>
            <a:r>
              <a:rPr lang="en-US" sz="1120" dirty="0"/>
              <a:t> 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20" dirty="0"/>
              <a:t>Transport-model inversion</a:t>
            </a:r>
            <a:endParaRPr sz="112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20" dirty="0"/>
              <a:t>Bayesian source estimation </a:t>
            </a:r>
            <a:endParaRPr sz="112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20" dirty="0"/>
              <a:t>Information-driven planning</a:t>
            </a:r>
            <a:endParaRPr sz="1120" dirty="0"/>
          </a:p>
          <a:p>
            <a:pPr marL="0" lvl="0" indent="7302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Noto Sans Symbols"/>
              <a:buNone/>
            </a:pPr>
            <a:endParaRPr sz="1120" dirty="0"/>
          </a:p>
          <a:p>
            <a:pPr marL="171450" lvl="0" indent="-171450">
              <a:buSzPts val="1150"/>
              <a:buFont typeface="Noto Sans Symbols"/>
              <a:buChar char="✔"/>
            </a:pPr>
            <a:r>
              <a:rPr lang="it-IT" sz="1120" dirty="0"/>
              <a:t>Use source </a:t>
            </a:r>
            <a:r>
              <a:rPr lang="it-IT" sz="1120" dirty="0" err="1"/>
              <a:t>estimates</a:t>
            </a:r>
            <a:r>
              <a:rPr lang="it-IT" sz="1120" dirty="0"/>
              <a:t> and </a:t>
            </a:r>
            <a:r>
              <a:rPr lang="it-IT" sz="1120" dirty="0" err="1"/>
              <a:t>uncertainty</a:t>
            </a:r>
            <a:r>
              <a:rPr lang="it-IT" sz="1120" dirty="0"/>
              <a:t> to guide </a:t>
            </a:r>
            <a:r>
              <a:rPr lang="it-IT" sz="1120" dirty="0" err="1"/>
              <a:t>motion</a:t>
            </a:r>
            <a:endParaRPr lang="en-US" sz="1120" dirty="0"/>
          </a:p>
          <a:p>
            <a:pPr marL="171450" lvl="0" indent="-171450">
              <a:buSzPts val="1150"/>
              <a:buFont typeface="Verdana" panose="020B0604030504040204" pitchFamily="34" charset="0"/>
              <a:buChar char="X"/>
            </a:pPr>
            <a:r>
              <a:rPr lang="it-IT" sz="1120" dirty="0"/>
              <a:t>Sensitive to model mismatch; </a:t>
            </a:r>
            <a:r>
              <a:rPr lang="it-IT" sz="1120" dirty="0" err="1"/>
              <a:t>may</a:t>
            </a:r>
            <a:r>
              <a:rPr lang="it-IT" sz="1120" dirty="0"/>
              <a:t> </a:t>
            </a:r>
            <a:r>
              <a:rPr lang="it-IT" sz="1120" dirty="0" err="1"/>
              <a:t>require</a:t>
            </a:r>
            <a:r>
              <a:rPr lang="it-IT" sz="1120" dirty="0"/>
              <a:t> </a:t>
            </a:r>
            <a:r>
              <a:rPr lang="it-IT" sz="1120" dirty="0" err="1"/>
              <a:t>substantial</a:t>
            </a:r>
            <a:r>
              <a:rPr lang="it-IT" sz="1120" dirty="0"/>
              <a:t> online </a:t>
            </a:r>
            <a:r>
              <a:rPr lang="it-IT" sz="1120" dirty="0" err="1"/>
              <a:t>computation</a:t>
            </a:r>
            <a:endParaRPr lang="en-US" sz="1120" dirty="0"/>
          </a:p>
        </p:txBody>
      </p:sp>
      <p:sp>
        <p:nvSpPr>
          <p:cNvPr id="122" name="Google Shape;122;p3"/>
          <p:cNvSpPr txBox="1">
            <a:spLocks noGrp="1"/>
          </p:cNvSpPr>
          <p:nvPr>
            <p:ph type="body" idx="5"/>
          </p:nvPr>
        </p:nvSpPr>
        <p:spPr>
          <a:xfrm>
            <a:off x="3207551" y="1465673"/>
            <a:ext cx="2327115" cy="3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</a:pPr>
            <a:r>
              <a:rPr lang="en-US" sz="1400" dirty="0">
                <a:solidFill>
                  <a:schemeClr val="tx1"/>
                </a:solidFill>
              </a:rPr>
              <a:t>Training-free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2"/>
          </p:nvPr>
        </p:nvSpPr>
        <p:spPr>
          <a:xfrm>
            <a:off x="3279988" y="1789071"/>
            <a:ext cx="2703764" cy="2455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20" dirty="0"/>
              <a:t>Field climbing</a:t>
            </a:r>
            <a:endParaRPr sz="1120" dirty="0"/>
          </a:p>
          <a:p>
            <a:pPr marL="171450" lvl="0" indent="-1714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20" dirty="0"/>
              <a:t>Extremum seeking</a:t>
            </a:r>
            <a:endParaRPr sz="1120" dirty="0"/>
          </a:p>
          <a:p>
            <a:pPr marL="171450" lvl="0" indent="-1714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Wingdings" panose="05000000000000000000" pitchFamily="2" charset="2"/>
              <a:buChar char="§"/>
            </a:pPr>
            <a:r>
              <a:rPr lang="en-US" sz="1120" dirty="0"/>
              <a:t>Bio-inspired plume tracing</a:t>
            </a:r>
            <a:endParaRPr sz="1120" dirty="0"/>
          </a:p>
          <a:p>
            <a:pPr marL="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Fira Sans"/>
              <a:buNone/>
            </a:pPr>
            <a:endParaRPr sz="1120" dirty="0"/>
          </a:p>
          <a:p>
            <a:pPr marL="171450" lvl="0" indent="-171450">
              <a:buSzPts val="1150"/>
              <a:buFont typeface="Noto Sans Symbols"/>
              <a:buChar char="✔"/>
            </a:pPr>
            <a:r>
              <a:rPr lang="en-US" sz="1120" dirty="0"/>
              <a:t>No offline training; typically low online computational cost</a:t>
            </a:r>
            <a:endParaRPr sz="1120" dirty="0"/>
          </a:p>
          <a:p>
            <a:pPr marL="171450" indent="-171450">
              <a:buSzPts val="1150"/>
              <a:buFont typeface="Verdana" panose="020B0604030504040204" pitchFamily="34" charset="0"/>
              <a:buChar char="X"/>
            </a:pPr>
            <a:r>
              <a:rPr lang="it-IT" sz="1120" dirty="0" err="1"/>
              <a:t>Rely</a:t>
            </a:r>
            <a:r>
              <a:rPr lang="it-IT" sz="1120" dirty="0"/>
              <a:t> on </a:t>
            </a:r>
            <a:r>
              <a:rPr lang="it-IT" sz="1120" dirty="0" err="1"/>
              <a:t>predefined</a:t>
            </a:r>
            <a:r>
              <a:rPr lang="it-IT" sz="1120" dirty="0"/>
              <a:t> </a:t>
            </a:r>
            <a:r>
              <a:rPr lang="it-IT" sz="1120" dirty="0" err="1"/>
              <a:t>search</a:t>
            </a:r>
            <a:r>
              <a:rPr lang="it-IT" sz="1120" dirty="0"/>
              <a:t> rules; </a:t>
            </a:r>
            <a:r>
              <a:rPr lang="it-IT" sz="1120" dirty="0" err="1"/>
              <a:t>gradient-based</a:t>
            </a:r>
            <a:r>
              <a:rPr lang="it-IT" sz="1120" dirty="0"/>
              <a:t> </a:t>
            </a:r>
            <a:r>
              <a:rPr lang="it-IT" sz="1120" dirty="0" err="1"/>
              <a:t>search</a:t>
            </a:r>
            <a:r>
              <a:rPr lang="it-IT" sz="1120" dirty="0"/>
              <a:t> can </a:t>
            </a:r>
            <a:r>
              <a:rPr lang="it-IT" sz="1120" dirty="0" err="1"/>
              <a:t>stall</a:t>
            </a:r>
            <a:r>
              <a:rPr lang="it-IT" sz="1120" dirty="0"/>
              <a:t> in </a:t>
            </a:r>
            <a:r>
              <a:rPr lang="it-IT" sz="1120" dirty="0" err="1"/>
              <a:t>weak</a:t>
            </a:r>
            <a:r>
              <a:rPr lang="it-IT" sz="1120" dirty="0"/>
              <a:t> </a:t>
            </a:r>
            <a:r>
              <a:rPr lang="it-IT" sz="1120" dirty="0" err="1"/>
              <a:t>gradients</a:t>
            </a:r>
            <a:r>
              <a:rPr lang="it-IT" sz="1120" dirty="0"/>
              <a:t> or converge to </a:t>
            </a:r>
            <a:r>
              <a:rPr lang="it-IT" sz="1120" dirty="0" err="1"/>
              <a:t>local</a:t>
            </a:r>
            <a:r>
              <a:rPr lang="it-IT" sz="1120" dirty="0"/>
              <a:t> </a:t>
            </a:r>
            <a:r>
              <a:rPr lang="it-IT" sz="1120" dirty="0" err="1"/>
              <a:t>concentration</a:t>
            </a:r>
            <a:r>
              <a:rPr lang="it-IT" sz="1120" dirty="0"/>
              <a:t> maxima</a:t>
            </a:r>
            <a:endParaRPr sz="1120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6"/>
          </p:nvPr>
        </p:nvSpPr>
        <p:spPr>
          <a:xfrm>
            <a:off x="6050618" y="1465673"/>
            <a:ext cx="2645765" cy="3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</a:pPr>
            <a:r>
              <a:rPr lang="en-US" sz="1400" u="sng" dirty="0">
                <a:solidFill>
                  <a:schemeClr val="tx1"/>
                </a:solidFill>
              </a:rPr>
              <a:t>Reinforcement Learning</a:t>
            </a:r>
            <a:endParaRPr sz="1400" u="sng" dirty="0">
              <a:solidFill>
                <a:schemeClr val="tx1"/>
              </a:solidFill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3"/>
          </p:nvPr>
        </p:nvSpPr>
        <p:spPr>
          <a:xfrm>
            <a:off x="6050618" y="1832000"/>
            <a:ext cx="2773488" cy="230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>
              <a:spcBef>
                <a:spcPts val="0"/>
              </a:spcBef>
              <a:buSzPts val="1150"/>
              <a:buFont typeface="Wingdings" panose="05000000000000000000" pitchFamily="2" charset="2"/>
              <a:buChar char="§"/>
            </a:pPr>
            <a:r>
              <a:rPr lang="en-US" sz="1120" b="1" dirty="0"/>
              <a:t>Policy:</a:t>
            </a:r>
            <a:r>
              <a:rPr lang="en-US" sz="1120" dirty="0"/>
              <a:t> maps observations and memory to motion commands</a:t>
            </a:r>
          </a:p>
          <a:p>
            <a:pPr marL="171450" lvl="0" indent="-171450">
              <a:lnSpc>
                <a:spcPct val="100000"/>
              </a:lnSpc>
              <a:spcBef>
                <a:spcPts val="0"/>
              </a:spcBef>
              <a:buSzPts val="1150"/>
              <a:buFont typeface="Wingdings" panose="05000000000000000000" pitchFamily="2" charset="2"/>
              <a:buChar char="§"/>
            </a:pPr>
            <a:endParaRPr lang="en-US" sz="1120" dirty="0"/>
          </a:p>
          <a:p>
            <a:pPr marL="171450" lvl="0" indent="-171450">
              <a:spcBef>
                <a:spcPts val="0"/>
              </a:spcBef>
              <a:buSzPts val="1150"/>
              <a:buFont typeface="Wingdings" panose="05000000000000000000" pitchFamily="2" charset="2"/>
              <a:buChar char="§"/>
            </a:pPr>
            <a:r>
              <a:rPr lang="en-US" sz="1120" b="1" dirty="0"/>
              <a:t>Training:</a:t>
            </a:r>
            <a:r>
              <a:rPr lang="en-US" sz="1120" dirty="0"/>
              <a:t> learns the policy through interaction with simulated world to maximize cumulative reward</a:t>
            </a:r>
          </a:p>
          <a:p>
            <a:pPr marL="171450" lvl="0" indent="-171450">
              <a:buSzPts val="1150"/>
              <a:buFont typeface="Noto Sans Symbols"/>
              <a:buChar char="✔"/>
            </a:pPr>
            <a:r>
              <a:rPr lang="en-US" sz="1120" dirty="0"/>
              <a:t>Fast online action selection; no transport-model solution</a:t>
            </a:r>
          </a:p>
          <a:p>
            <a:pPr marL="171450" lvl="0" indent="-171450">
              <a:buSzPts val="1150"/>
              <a:buFont typeface="Verdana" panose="020B0604030504040204" pitchFamily="34" charset="0"/>
              <a:buChar char="X"/>
            </a:pPr>
            <a:r>
              <a:rPr lang="en-US" sz="1120" dirty="0"/>
              <a:t>Depends on reward design and training coverage</a:t>
            </a:r>
            <a:r>
              <a:rPr lang="it-IT" sz="1120" dirty="0"/>
              <a:t>; </a:t>
            </a:r>
            <a:r>
              <a:rPr lang="it-IT" sz="1120" dirty="0" err="1"/>
              <a:t>generalization</a:t>
            </a:r>
            <a:r>
              <a:rPr lang="it-IT" sz="1120" dirty="0"/>
              <a:t> to </a:t>
            </a:r>
            <a:r>
              <a:rPr lang="it-IT" sz="1120" dirty="0" err="1"/>
              <a:t>unseen</a:t>
            </a:r>
            <a:r>
              <a:rPr lang="it-IT" sz="1120" dirty="0"/>
              <a:t> </a:t>
            </a:r>
            <a:r>
              <a:rPr lang="it-IT" sz="1120" dirty="0" err="1"/>
              <a:t>conditions</a:t>
            </a:r>
            <a:r>
              <a:rPr lang="it-IT" sz="1120" dirty="0"/>
              <a:t> </a:t>
            </a:r>
            <a:r>
              <a:rPr lang="it-IT" sz="1120" dirty="0" err="1"/>
              <a:t>requires</a:t>
            </a:r>
            <a:r>
              <a:rPr lang="it-IT" sz="1120" dirty="0"/>
              <a:t> </a:t>
            </a:r>
            <a:r>
              <a:rPr lang="it-IT" sz="1120" dirty="0" err="1"/>
              <a:t>validation</a:t>
            </a:r>
            <a:endParaRPr lang="en-US" sz="1120" dirty="0"/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7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5202335" y="1188478"/>
            <a:ext cx="1560007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en-US" b="1" i="0" u="sng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MODEL-FREE</a:t>
            </a:r>
            <a:endParaRPr b="1" i="0" u="sng" strike="noStrike" cap="none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4B403-DE26-C2F2-ED91-EEE78DE95DC7}"/>
              </a:ext>
            </a:extLst>
          </p:cNvPr>
          <p:cNvSpPr txBox="1"/>
          <p:nvPr/>
        </p:nvSpPr>
        <p:spPr>
          <a:xfrm>
            <a:off x="2975761" y="4402195"/>
            <a:ext cx="330195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800" b="1" dirty="0"/>
              <a:t>📄 </a:t>
            </a:r>
            <a:r>
              <a:rPr lang="en-US" sz="750" dirty="0" err="1">
                <a:latin typeface="Verdana" panose="020B0604030504040204" pitchFamily="34" charset="0"/>
                <a:ea typeface="Verdana" panose="020B0604030504040204" pitchFamily="34" charset="0"/>
              </a:rPr>
              <a:t>Briñón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-Arranz, </a:t>
            </a:r>
            <a:r>
              <a:rPr lang="en-US" sz="750" dirty="0" err="1">
                <a:latin typeface="Verdana" panose="020B0604030504040204" pitchFamily="34" charset="0"/>
                <a:ea typeface="Verdana" panose="020B0604030504040204" pitchFamily="34" charset="0"/>
              </a:rPr>
              <a:t>Renzaglia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750" dirty="0" err="1">
                <a:latin typeface="Verdana" panose="020B0604030504040204" pitchFamily="34" charset="0"/>
                <a:ea typeface="Verdana" panose="020B0604030504040204" pitchFamily="34" charset="0"/>
              </a:rPr>
              <a:t>Schenato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, “Multirobot Symmetric Formations for Gradient and Hessian Estimation With Application to Source Seeking,” </a:t>
            </a:r>
            <a:r>
              <a:rPr lang="en-US" sz="750" b="1" i="1" dirty="0">
                <a:latin typeface="Verdana" panose="020B0604030504040204" pitchFamily="34" charset="0"/>
                <a:ea typeface="Verdana" panose="020B0604030504040204" pitchFamily="34" charset="0"/>
              </a:rPr>
              <a:t>IEEE Trans. on Robotics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, 2019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C1EAB-425F-57A7-477A-19BEE1EF4DC2}"/>
              </a:ext>
            </a:extLst>
          </p:cNvPr>
          <p:cNvSpPr txBox="1"/>
          <p:nvPr/>
        </p:nvSpPr>
        <p:spPr>
          <a:xfrm>
            <a:off x="130888" y="4400322"/>
            <a:ext cx="2942819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it-IT" sz="800" b="1" dirty="0"/>
              <a:t>📄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Zhang, Qin, Tang, Li, “Distributed information-based source seeking</a:t>
            </a:r>
            <a:r>
              <a:rPr lang="en-US" sz="750" i="1" dirty="0">
                <a:latin typeface="Verdana" panose="020B0604030504040204" pitchFamily="34" charset="0"/>
                <a:ea typeface="Verdana" panose="020B0604030504040204" pitchFamily="34" charset="0"/>
              </a:rPr>
              <a:t>,”</a:t>
            </a:r>
            <a:r>
              <a:rPr lang="en-US" sz="75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750" b="1" i="1" dirty="0">
                <a:latin typeface="Verdana" panose="020B0604030504040204" pitchFamily="34" charset="0"/>
                <a:ea typeface="Verdana" panose="020B0604030504040204" pitchFamily="34" charset="0"/>
              </a:rPr>
              <a:t>IEEE Trans. on Robotics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, 2023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FCB2E1-9F44-2E4B-545A-B81DDD5DB34B}"/>
              </a:ext>
            </a:extLst>
          </p:cNvPr>
          <p:cNvSpPr txBox="1"/>
          <p:nvPr/>
        </p:nvSpPr>
        <p:spPr>
          <a:xfrm>
            <a:off x="6234108" y="4400322"/>
            <a:ext cx="26568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800" b="1" dirty="0"/>
              <a:t>📄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Hu, Song, Chen, “Plume Tracing via Model-Free Reinforcement Learning Method,”</a:t>
            </a:r>
            <a:r>
              <a:rPr lang="en-US" sz="75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750" b="1" i="1" dirty="0">
                <a:latin typeface="Verdana" panose="020B0604030504040204" pitchFamily="34" charset="0"/>
                <a:ea typeface="Verdana" panose="020B0604030504040204" pitchFamily="34" charset="0"/>
              </a:rPr>
              <a:t>IEEE Trans. on Neural Networks and Learning Systems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</a:rPr>
              <a:t>,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455330" y="713183"/>
            <a:ext cx="8362993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700" dirty="0"/>
              <a:t>Source seeking as a partially observable Markov decision process</a:t>
            </a:r>
            <a:endParaRPr sz="1700" dirty="0"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2"/>
          </p:nvPr>
        </p:nvSpPr>
        <p:spPr>
          <a:xfrm>
            <a:off x="455330" y="3398188"/>
            <a:ext cx="8233340" cy="1536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0216" lvl="0" indent="-285750">
              <a:lnSpc>
                <a:spcPct val="100000"/>
              </a:lnSpc>
              <a:buSzPts val="1120"/>
              <a:buFont typeface="Noto Sans Symbols"/>
              <a:buChar char="▪"/>
            </a:pPr>
            <a:r>
              <a:rPr lang="en-US" sz="1120" b="1" dirty="0"/>
              <a:t>Actions:</a:t>
            </a:r>
            <a:r>
              <a:rPr lang="en-US" sz="1120" dirty="0"/>
              <a:t> </a:t>
            </a:r>
            <a:r>
              <a:rPr lang="it-IT" sz="1120" dirty="0" err="1"/>
              <a:t>select</a:t>
            </a:r>
            <a:r>
              <a:rPr lang="it-IT" sz="1120" dirty="0"/>
              <a:t> the </a:t>
            </a:r>
            <a:r>
              <a:rPr lang="it-IT" sz="1120" dirty="0" err="1"/>
              <a:t>central</a:t>
            </a:r>
            <a:r>
              <a:rPr lang="it-IT" sz="1120" dirty="0"/>
              <a:t> </a:t>
            </a:r>
            <a:r>
              <a:rPr lang="it-IT" sz="1120" dirty="0" err="1"/>
              <a:t>agent’s</a:t>
            </a:r>
            <a:r>
              <a:rPr lang="it-IT" sz="1120" dirty="0"/>
              <a:t> </a:t>
            </a:r>
            <a:r>
              <a:rPr lang="it-IT" sz="1120" dirty="0" err="1"/>
              <a:t>heading</a:t>
            </a:r>
            <a:r>
              <a:rPr lang="it-IT" sz="1120" dirty="0"/>
              <a:t> and speed from </a:t>
            </a:r>
            <a:r>
              <a:rPr lang="it-IT" sz="1120" dirty="0" err="1"/>
              <a:t>admissible</a:t>
            </a:r>
            <a:r>
              <a:rPr lang="it-IT" sz="1120" dirty="0"/>
              <a:t> </a:t>
            </a:r>
            <a:r>
              <a:rPr lang="it-IT" sz="1120" dirty="0" err="1"/>
              <a:t>commands</a:t>
            </a:r>
            <a:endParaRPr lang="it-IT" sz="1120" dirty="0"/>
          </a:p>
          <a:p>
            <a:pPr marL="290216" lvl="0" indent="-285750">
              <a:lnSpc>
                <a:spcPct val="100000"/>
              </a:lnSpc>
              <a:buSzPts val="1120"/>
              <a:buFont typeface="Noto Sans Symbols"/>
              <a:buChar char="▪"/>
            </a:pPr>
            <a:r>
              <a:rPr lang="en-US" sz="1120" b="1" dirty="0"/>
              <a:t>Objective:</a:t>
            </a:r>
            <a:r>
              <a:rPr lang="en-US" sz="1120" dirty="0"/>
              <a:t> </a:t>
            </a:r>
            <a:r>
              <a:rPr lang="it-IT" sz="1120" dirty="0" err="1"/>
              <a:t>reach</a:t>
            </a:r>
            <a:r>
              <a:rPr lang="it-IT" sz="1120" dirty="0"/>
              <a:t> a </a:t>
            </a:r>
            <a:r>
              <a:rPr lang="it-IT" sz="1120" dirty="0" err="1"/>
              <a:t>neighbourhood</a:t>
            </a:r>
            <a:r>
              <a:rPr lang="it-IT" sz="1120" dirty="0"/>
              <a:t> of the </a:t>
            </a:r>
            <a:r>
              <a:rPr lang="it-IT" sz="1120" dirty="0" err="1"/>
              <a:t>unknown</a:t>
            </a:r>
            <a:r>
              <a:rPr lang="it-IT" sz="1120" dirty="0"/>
              <a:t> source </a:t>
            </a:r>
            <a:r>
              <a:rPr lang="it-IT" sz="1120" dirty="0" err="1"/>
              <a:t>as</a:t>
            </a:r>
            <a:r>
              <a:rPr lang="it-IT" sz="1120" dirty="0"/>
              <a:t> </a:t>
            </a:r>
            <a:r>
              <a:rPr lang="it-IT" sz="1120" dirty="0" err="1"/>
              <a:t>quickly</a:t>
            </a:r>
            <a:r>
              <a:rPr lang="it-IT" sz="1120" dirty="0"/>
              <a:t> </a:t>
            </a:r>
            <a:r>
              <a:rPr lang="it-IT" sz="1120" dirty="0" err="1"/>
              <a:t>as</a:t>
            </a:r>
            <a:r>
              <a:rPr lang="it-IT" sz="1120" dirty="0"/>
              <a:t> </a:t>
            </a:r>
            <a:r>
              <a:rPr lang="it-IT" sz="1120" dirty="0" err="1"/>
              <a:t>possible</a:t>
            </a:r>
            <a:r>
              <a:rPr lang="it-IT" sz="1120" dirty="0"/>
              <a:t> </a:t>
            </a:r>
            <a:r>
              <a:rPr lang="it-IT" sz="1120" dirty="0" err="1"/>
              <a:t>using</a:t>
            </a:r>
            <a:r>
              <a:rPr lang="it-IT" sz="1120" dirty="0"/>
              <a:t> </a:t>
            </a:r>
            <a:r>
              <a:rPr lang="it-IT" sz="1120" dirty="0" err="1"/>
              <a:t>local</a:t>
            </a:r>
            <a:r>
              <a:rPr lang="it-IT" sz="1120" dirty="0"/>
              <a:t> </a:t>
            </a:r>
            <a:r>
              <a:rPr lang="it-IT" sz="1120" dirty="0" err="1"/>
              <a:t>measurements</a:t>
            </a:r>
            <a:endParaRPr lang="en-US" sz="1120" dirty="0"/>
          </a:p>
          <a:p>
            <a:pPr marL="290216" lvl="0" indent="-285750">
              <a:lnSpc>
                <a:spcPct val="100000"/>
              </a:lnSpc>
              <a:buSzPts val="1120"/>
              <a:buFont typeface="Noto Sans Symbols"/>
              <a:buChar char="✔"/>
            </a:pPr>
            <a:r>
              <a:rPr lang="en-US" sz="1120" b="1" dirty="0"/>
              <a:t>Offline training: </a:t>
            </a:r>
            <a:r>
              <a:rPr lang="en-US" sz="1120" dirty="0"/>
              <a:t>learn a feedback policy through interaction with high-fidelity hydrodynamic simulations</a:t>
            </a:r>
          </a:p>
          <a:p>
            <a:pPr marL="290216" lvl="0" indent="-285750">
              <a:lnSpc>
                <a:spcPct val="100000"/>
              </a:lnSpc>
              <a:buSzPts val="1120"/>
              <a:buFont typeface="Noto Sans Symbols"/>
              <a:buChar char="✔"/>
            </a:pPr>
            <a:r>
              <a:rPr lang="en-US" sz="1120" b="1" dirty="0"/>
              <a:t>Online execution: </a:t>
            </a:r>
            <a:r>
              <a:rPr lang="en-US" sz="1120" dirty="0"/>
              <a:t>use local measurements and memory to select admissible motion commands, without solving transport equations or explicitly estimating the source position</a:t>
            </a:r>
            <a:endParaRPr sz="1120" dirty="0"/>
          </a:p>
        </p:txBody>
      </p:sp>
      <p:sp>
        <p:nvSpPr>
          <p:cNvPr id="135" name="Google Shape;135;p4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1577AB-A453-3012-ED4E-B6E52BFC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28" y="1105079"/>
            <a:ext cx="8069943" cy="2353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12be406ea8_1_1"/>
          <p:cNvSpPr txBox="1">
            <a:spLocks noGrp="1"/>
          </p:cNvSpPr>
          <p:nvPr>
            <p:ph type="title"/>
          </p:nvPr>
        </p:nvSpPr>
        <p:spPr>
          <a:xfrm>
            <a:off x="246588" y="600796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Dataset: hydrodynamic and transport modelling</a:t>
            </a:r>
            <a:endParaRPr dirty="0"/>
          </a:p>
        </p:txBody>
      </p:sp>
      <p:sp>
        <p:nvSpPr>
          <p:cNvPr id="143" name="Google Shape;143;g412be406ea8_1_1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Dataset</a:t>
            </a:r>
            <a:endParaRPr/>
          </a:p>
        </p:txBody>
      </p:sp>
      <p:pic>
        <p:nvPicPr>
          <p:cNvPr id="144" name="Google Shape;144;g412be406ea8_1_1" title="dominio_batimetr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914" y="3014969"/>
            <a:ext cx="4296405" cy="177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412be406ea8_1_1"/>
          <p:cNvSpPr txBox="1"/>
          <p:nvPr/>
        </p:nvSpPr>
        <p:spPr>
          <a:xfrm>
            <a:off x="150992" y="1241596"/>
            <a:ext cx="4002768" cy="354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Pollutant concentration fields from MIKE21 Flow Model FM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(DHI): 2D shallow-water equations, Eulerian advection-diffusion of a non-reactive tracer</a:t>
            </a:r>
          </a:p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Domain: Cecina bay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(~16 × 14 km), triangular mesh with variable resolution (~10 m near the port, ~150 m offshore)</a:t>
            </a:r>
          </a:p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Hydrodynamic downscaling: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Mediterranean basin (~4.5 km) to local coastal mesh (~10 m)</a:t>
            </a:r>
          </a:p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59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Environmental forcing: 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CMEMS currents and sea level at open boundaries (Flather conditions), plus time-varying, spatially uniform ERA5 wind</a:t>
            </a:r>
          </a:p>
          <a:p>
            <a:pPr marL="457200" lvl="0" indent="-2597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59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Noto Sans Symbols"/>
              <a:buChar char="■"/>
            </a:pPr>
            <a:r>
              <a:rPr lang="en-US" sz="1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 hydrodynamic regime:</a:t>
            </a:r>
            <a:r>
              <a:rPr lang="en-US" sz="1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Class 2 (moderate currents, persistent direction and low sea-level variability, selected from four clusters of CMEMS data)</a:t>
            </a:r>
            <a:endParaRPr sz="1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8A68FF-A8F2-E44C-AF54-3CE3E5D07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59" y="742763"/>
            <a:ext cx="1890760" cy="2237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2843D2-3882-A271-E5A9-F6892938B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716" y="1208246"/>
            <a:ext cx="2133785" cy="1771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12be406ea8_1_25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dirty="0"/>
              <a:t>Dataset: wind scenarios</a:t>
            </a:r>
            <a:endParaRPr dirty="0"/>
          </a:p>
        </p:txBody>
      </p:sp>
      <p:sp>
        <p:nvSpPr>
          <p:cNvPr id="152" name="Google Shape;152;g412be406ea8_1_25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Dataset</a:t>
            </a:r>
            <a:endParaRPr/>
          </a:p>
        </p:txBody>
      </p:sp>
      <p:pic>
        <p:nvPicPr>
          <p:cNvPr id="153" name="Google Shape;153;g412be406ea8_1_25" title="rosa_vent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675" y="1652403"/>
            <a:ext cx="3626999" cy="27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412be406ea8_1_25"/>
          <p:cNvSpPr txBox="1"/>
          <p:nvPr/>
        </p:nvSpPr>
        <p:spPr>
          <a:xfrm>
            <a:off x="714375" y="1428350"/>
            <a:ext cx="40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g412be406ea8_1_25"/>
          <p:cNvSpPr txBox="1"/>
          <p:nvPr/>
        </p:nvSpPr>
        <p:spPr>
          <a:xfrm>
            <a:off x="714375" y="1353975"/>
            <a:ext cx="3996900" cy="33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r>
              <a:rPr lang="en-US" sz="1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V0:</a:t>
            </a:r>
            <a:r>
              <a:rPr lang="en-US" sz="1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calm/light wind conditions; low-intensity wind (approximately 1.5-2 m/s), with no significant prevailing direction</a:t>
            </a: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endParaRPr sz="1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r>
              <a:rPr lang="en-US" sz="1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V1:</a:t>
            </a:r>
            <a:r>
              <a:rPr lang="en-US" sz="1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persistent wind from the NW; prevailing direction between 310° and 330°, with a typical duration of 8-12 hours and speeds up to 8-10 m/s</a:t>
            </a: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endParaRPr sz="1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r>
              <a:rPr lang="en-US" sz="1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V2:</a:t>
            </a:r>
            <a:r>
              <a:rPr lang="en-US" sz="1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persistent wind from the SW; prevailing direction between 230° and 250°, with a typical duration of 8-12 hours and speeds up to 8-10 m/s</a:t>
            </a: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endParaRPr sz="1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Char char="■"/>
            </a:pPr>
            <a:r>
              <a:rPr lang="en-US" sz="1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V3:</a:t>
            </a:r>
            <a:r>
              <a:rPr lang="en-US" sz="1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wind from the eastern sector; prevailing direction between 110° and 130°, with a typical duration of 8-12 hours and speeds up to 6-8 m/s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12be406ea8_1_10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dirty="0"/>
              <a:t>Dataset: training and evaluation setup</a:t>
            </a:r>
            <a:endParaRPr dirty="0"/>
          </a:p>
        </p:txBody>
      </p:sp>
      <p:sp>
        <p:nvSpPr>
          <p:cNvPr id="162" name="Google Shape;162;g412be406ea8_1_10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From dataset to simulations</a:t>
            </a:r>
            <a:endParaRPr/>
          </a:p>
        </p:txBody>
      </p:sp>
      <p:pic>
        <p:nvPicPr>
          <p:cNvPr id="163" name="Google Shape;163;g412be406ea8_1_10" title="raw_netcdf_field.gif"/>
          <p:cNvPicPr preferRelativeResize="0"/>
          <p:nvPr/>
        </p:nvPicPr>
        <p:blipFill rotWithShape="1">
          <a:blip r:embed="rId3">
            <a:alphaModFix/>
          </a:blip>
          <a:srcRect t="12659" b="4655"/>
          <a:stretch/>
        </p:blipFill>
        <p:spPr>
          <a:xfrm>
            <a:off x="5140550" y="1641175"/>
            <a:ext cx="3677725" cy="27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412be406ea8_1_10"/>
          <p:cNvSpPr txBox="1">
            <a:spLocks noGrp="1"/>
          </p:cNvSpPr>
          <p:nvPr>
            <p:ph type="body" idx="2"/>
          </p:nvPr>
        </p:nvSpPr>
        <p:spPr>
          <a:xfrm>
            <a:off x="714374" y="1361250"/>
            <a:ext cx="4314825" cy="3428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0" indent="-304800">
              <a:lnSpc>
                <a:spcPct val="100000"/>
              </a:lnSpc>
              <a:spcBef>
                <a:spcPts val="0"/>
              </a:spcBef>
              <a:buSzPts val="1200"/>
              <a:buFont typeface="Noto Sans Symbols"/>
              <a:buChar char="▪"/>
            </a:pPr>
            <a:r>
              <a:rPr lang="en-US" sz="1200" b="1" dirty="0"/>
              <a:t>Dataset format:</a:t>
            </a:r>
            <a:r>
              <a:rPr lang="en-US" sz="1200" dirty="0"/>
              <a:t> </a:t>
            </a:r>
            <a:r>
              <a:rPr lang="en-US" sz="1200" dirty="0" err="1"/>
              <a:t>NetCDF</a:t>
            </a:r>
            <a:r>
              <a:rPr lang="en-US" sz="1200" dirty="0"/>
              <a:t> concentration and current fields on a 10 m grid, sampled every 2 min over a 3 × 2.5 km coastal window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▪"/>
            </a:pPr>
            <a:endParaRPr sz="1200" b="1" dirty="0"/>
          </a:p>
          <a:p>
            <a:pPr lvl="0" indent="-304800">
              <a:lnSpc>
                <a:spcPct val="110000"/>
              </a:lnSpc>
              <a:spcBef>
                <a:spcPts val="0"/>
              </a:spcBef>
              <a:buSzPts val="1200"/>
              <a:buFont typeface="Noto Sans Symbols"/>
              <a:buChar char="▪"/>
            </a:pPr>
            <a:r>
              <a:rPr lang="en-US" sz="1200" b="1" dirty="0"/>
              <a:t>Source scenarios: </a:t>
            </a:r>
            <a:r>
              <a:rPr lang="en-US" sz="1200" dirty="0"/>
              <a:t>132 source locations (~200 m spacing), each simulated under four wind scenarios with identical, constant release conditions (50 L/s)</a:t>
            </a:r>
            <a:endParaRPr sz="1200" dirty="0"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▪"/>
            </a:pPr>
            <a:endParaRPr lang="en-US" sz="1200" b="1" dirty="0"/>
          </a:p>
          <a:p>
            <a:pPr lvl="0" indent="-304800">
              <a:lnSpc>
                <a:spcPct val="110000"/>
              </a:lnSpc>
              <a:spcBef>
                <a:spcPts val="0"/>
              </a:spcBef>
              <a:buSzPts val="1200"/>
              <a:buFont typeface="Noto Sans Symbols"/>
              <a:buChar char="▪"/>
            </a:pPr>
            <a:r>
              <a:rPr lang="en-US" sz="1200" b="1" dirty="0"/>
              <a:t>Training and evaluation: </a:t>
            </a:r>
            <a:r>
              <a:rPr lang="en-US" sz="1200" dirty="0"/>
              <a:t>106 source locations for training and 26 held-out locations for evaluation</a:t>
            </a:r>
          </a:p>
          <a:p>
            <a:pPr lvl="0" indent="-304800">
              <a:lnSpc>
                <a:spcPct val="110000"/>
              </a:lnSpc>
              <a:spcBef>
                <a:spcPts val="0"/>
              </a:spcBef>
              <a:buSzPts val="1200"/>
              <a:buFont typeface="Noto Sans Symbols"/>
              <a:buChar char="▪"/>
            </a:pPr>
            <a:endParaRPr lang="en-US" sz="1200" b="1" dirty="0"/>
          </a:p>
          <a:p>
            <a:pPr lvl="0" indent="-304800">
              <a:lnSpc>
                <a:spcPct val="110000"/>
              </a:lnSpc>
              <a:spcBef>
                <a:spcPts val="0"/>
              </a:spcBef>
              <a:buSzPts val="1200"/>
              <a:buFont typeface="Noto Sans Symbols"/>
              <a:buChar char="▪"/>
            </a:pPr>
            <a:r>
              <a:rPr lang="en-US" sz="1200" b="1" dirty="0"/>
              <a:t>Initial plume age:</a:t>
            </a:r>
            <a:r>
              <a:rPr lang="en-US" sz="1200" dirty="0"/>
              <a:t> episodes start at 25%, 50% or 75% of the simulated time series, exposing the agent to different stages of plume evolution</a:t>
            </a:r>
          </a:p>
          <a:p>
            <a:pPr lvl="0" indent="-304800">
              <a:lnSpc>
                <a:spcPct val="110000"/>
              </a:lnSpc>
              <a:spcBef>
                <a:spcPts val="0"/>
              </a:spcBef>
              <a:buSzPts val="1200"/>
              <a:buFont typeface="Noto Sans Symbols"/>
              <a:buChar char="▪"/>
            </a:pPr>
            <a:endParaRPr lang="en-US" sz="1200" dirty="0"/>
          </a:p>
          <a:p>
            <a:pPr marL="609600" lvl="1" indent="0">
              <a:lnSpc>
                <a:spcPct val="110000"/>
              </a:lnSpc>
              <a:spcBef>
                <a:spcPts val="0"/>
              </a:spcBef>
              <a:buSzPts val="1200"/>
              <a:buNone/>
            </a:pPr>
            <a:r>
              <a:rPr lang="en-US" sz="1200" dirty="0"/>
              <a:t>Q1/4 (compact)</a:t>
            </a:r>
          </a:p>
          <a:p>
            <a:pPr marL="609600" lvl="1" indent="0">
              <a:lnSpc>
                <a:spcPct val="110000"/>
              </a:lnSpc>
              <a:spcBef>
                <a:spcPts val="0"/>
              </a:spcBef>
              <a:buSzPts val="1200"/>
              <a:buNone/>
            </a:pPr>
            <a:r>
              <a:rPr lang="en-US" sz="1200" dirty="0"/>
              <a:t>Q1/2 (partly dispersed)</a:t>
            </a:r>
          </a:p>
          <a:p>
            <a:pPr marL="609600" lvl="1" indent="0">
              <a:lnSpc>
                <a:spcPct val="110000"/>
              </a:lnSpc>
              <a:spcBef>
                <a:spcPts val="0"/>
              </a:spcBef>
              <a:buSzPts val="1200"/>
              <a:buNone/>
            </a:pPr>
            <a:r>
              <a:rPr lang="en-US" sz="1200" dirty="0"/>
              <a:t>Q3/4 (heavily dispersed)</a:t>
            </a:r>
            <a:endParaRPr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Centralized fixed-formation sensing</a:t>
            </a:r>
            <a:endParaRPr/>
          </a:p>
        </p:txBody>
      </p:sp>
      <p:sp>
        <p:nvSpPr>
          <p:cNvPr id="159" name="Google Shape;159;p7"/>
          <p:cNvSpPr txBox="1">
            <a:spLocks noGrp="1"/>
          </p:cNvSpPr>
          <p:nvPr>
            <p:ph type="body" idx="2"/>
          </p:nvPr>
        </p:nvSpPr>
        <p:spPr>
          <a:xfrm>
            <a:off x="1381860" y="2763878"/>
            <a:ext cx="6768978" cy="194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0216" lvl="0" indent="-285750">
              <a:lnSpc>
                <a:spcPct val="100000"/>
              </a:lnSpc>
              <a:spcBef>
                <a:spcPts val="0"/>
              </a:spcBef>
              <a:buSzPts val="1300"/>
              <a:buFont typeface="Noto Sans Symbols"/>
              <a:buChar char="▪"/>
            </a:pPr>
            <a:r>
              <a:rPr lang="en-US" sz="1120" b="1" dirty="0"/>
              <a:t>Centralized control:</a:t>
            </a:r>
            <a:r>
              <a:rPr lang="en-US" sz="1120" dirty="0"/>
              <a:t> one policy selects the central agent’s action using all available measurements</a:t>
            </a:r>
            <a:endParaRPr sz="1120" dirty="0"/>
          </a:p>
          <a:p>
            <a:pPr marL="290216" lvl="0" indent="-285750">
              <a:lnSpc>
                <a:spcPct val="100000"/>
              </a:lnSpc>
              <a:buSzPts val="1300"/>
              <a:buFont typeface="Noto Sans Symbols"/>
              <a:buChar char="▪"/>
            </a:pPr>
            <a:r>
              <a:rPr lang="it-IT" sz="1120" b="1" dirty="0"/>
              <a:t>Three sensing </a:t>
            </a:r>
            <a:r>
              <a:rPr lang="it-IT" sz="1120" b="1" dirty="0" err="1"/>
              <a:t>configurations</a:t>
            </a:r>
            <a:r>
              <a:rPr lang="it-IT" sz="1120" b="1" dirty="0"/>
              <a:t>: </a:t>
            </a:r>
            <a:r>
              <a:rPr lang="en-US" sz="1120" dirty="0"/>
              <a:t>central agent only; one ring with 8 additional sampling points at 20 m; two rings with 8 further points at 50 m</a:t>
            </a:r>
            <a:endParaRPr sz="1120" dirty="0"/>
          </a:p>
          <a:p>
            <a:pPr marL="290216" lvl="0" indent="-2857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▪"/>
            </a:pPr>
            <a:r>
              <a:rPr lang="en-US" sz="1120" b="1" dirty="0"/>
              <a:t>Ideal co-moving sensors: </a:t>
            </a:r>
            <a:r>
              <a:rPr lang="en-US" sz="1120" dirty="0"/>
              <a:t>ring locations maintain fixed offsets from the central agent, measurements instantaneously available to the policy</a:t>
            </a:r>
          </a:p>
          <a:p>
            <a:pPr marL="290216" lvl="0" indent="-285750">
              <a:lnSpc>
                <a:spcPct val="100000"/>
              </a:lnSpc>
              <a:buSzPts val="1300"/>
              <a:buFont typeface="Noto Sans Symbols"/>
              <a:buChar char="▪"/>
            </a:pPr>
            <a:r>
              <a:rPr lang="it-IT" sz="1120" b="1" dirty="0"/>
              <a:t>Single-agent </a:t>
            </a:r>
            <a:r>
              <a:rPr lang="it-IT" sz="1120" b="1" dirty="0" err="1"/>
              <a:t>decision</a:t>
            </a:r>
            <a:r>
              <a:rPr lang="it-IT" sz="1120" b="1" dirty="0"/>
              <a:t> </a:t>
            </a:r>
            <a:r>
              <a:rPr lang="it-IT" sz="1120" b="1" dirty="0" err="1"/>
              <a:t>process</a:t>
            </a:r>
            <a:r>
              <a:rPr lang="it-IT" sz="1120" b="1" dirty="0"/>
              <a:t>:</a:t>
            </a:r>
            <a:r>
              <a:rPr lang="it-IT" sz="1120" dirty="0"/>
              <a:t> ring </a:t>
            </a:r>
            <a:r>
              <a:rPr lang="it-IT" sz="1120" dirty="0" err="1"/>
              <a:t>sensors</a:t>
            </a:r>
            <a:r>
              <a:rPr lang="it-IT" sz="1120" dirty="0"/>
              <a:t> </a:t>
            </a:r>
            <a:r>
              <a:rPr lang="it-IT" sz="1120" dirty="0" err="1"/>
              <a:t>have</a:t>
            </a:r>
            <a:r>
              <a:rPr lang="it-IT" sz="1120" dirty="0"/>
              <a:t> no </a:t>
            </a:r>
            <a:r>
              <a:rPr lang="it-IT" sz="1120" dirty="0" err="1"/>
              <a:t>independent</a:t>
            </a:r>
            <a:r>
              <a:rPr lang="it-IT" sz="1120" dirty="0"/>
              <a:t> policies or </a:t>
            </a:r>
            <a:r>
              <a:rPr lang="it-IT" sz="1120" dirty="0" err="1"/>
              <a:t>vehicle</a:t>
            </a:r>
            <a:r>
              <a:rPr lang="it-IT" sz="1120" dirty="0"/>
              <a:t> dynamics; </a:t>
            </a:r>
            <a:r>
              <a:rPr lang="it-IT" sz="1120" dirty="0" err="1"/>
              <a:t>communication</a:t>
            </a:r>
            <a:r>
              <a:rPr lang="it-IT" sz="1120" dirty="0"/>
              <a:t> </a:t>
            </a:r>
            <a:r>
              <a:rPr lang="it-IT" sz="1120" dirty="0" err="1"/>
              <a:t>constraints</a:t>
            </a:r>
            <a:r>
              <a:rPr lang="it-IT" sz="1120" dirty="0"/>
              <a:t> are </a:t>
            </a:r>
            <a:r>
              <a:rPr lang="it-IT" sz="1120" dirty="0" err="1"/>
              <a:t>not</a:t>
            </a:r>
            <a:r>
              <a:rPr lang="it-IT" sz="1120" dirty="0"/>
              <a:t> </a:t>
            </a:r>
            <a:r>
              <a:rPr lang="it-IT" sz="1120" dirty="0" err="1"/>
              <a:t>modeled</a:t>
            </a:r>
            <a:endParaRPr sz="1120" dirty="0"/>
          </a:p>
        </p:txBody>
      </p:sp>
      <p:sp>
        <p:nvSpPr>
          <p:cNvPr id="160" name="Google Shape;160;p7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E1C56B1-9C00-ECF9-6702-42D220458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374" y="1195415"/>
            <a:ext cx="4489950" cy="14554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AD6DA59-EA7A-3AD6-A7C5-0AAD44908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77" y="1149206"/>
            <a:ext cx="8061908" cy="1700923"/>
          </a:xfrm>
          <a:prstGeom prst="rect">
            <a:avLst/>
          </a:prstGeom>
        </p:spPr>
      </p:pic>
      <p:sp>
        <p:nvSpPr>
          <p:cNvPr id="167" name="Google Shape;167;p8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Policy architecture and training: Maskable PPO</a:t>
            </a:r>
            <a:endParaRPr/>
          </a:p>
        </p:txBody>
      </p:sp>
      <p:sp>
        <p:nvSpPr>
          <p:cNvPr id="168" name="Google Shape;168;p8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sp>
        <p:nvSpPr>
          <p:cNvPr id="170" name="Google Shape;170;p8"/>
          <p:cNvSpPr txBox="1">
            <a:spLocks noGrp="1"/>
          </p:cNvSpPr>
          <p:nvPr>
            <p:ph type="body" idx="2"/>
          </p:nvPr>
        </p:nvSpPr>
        <p:spPr>
          <a:xfrm>
            <a:off x="193927" y="2925123"/>
            <a:ext cx="4975095" cy="186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</a:pPr>
            <a:r>
              <a:rPr lang="en-US" sz="1200" b="1" dirty="0">
                <a:solidFill>
                  <a:schemeClr val="accent4"/>
                </a:solidFill>
              </a:rPr>
              <a:t>Architecture</a:t>
            </a:r>
            <a:endParaRPr sz="1200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000" b="1" dirty="0">
                <a:solidFill>
                  <a:schemeClr val="tx1"/>
                </a:solidFill>
              </a:rPr>
              <a:t>Policy input:</a:t>
            </a:r>
            <a:r>
              <a:rPr lang="it-IT" sz="1000" dirty="0">
                <a:solidFill>
                  <a:schemeClr val="tx1"/>
                </a:solidFill>
              </a:rPr>
              <a:t> 36/116/196 features for </a:t>
            </a:r>
            <a:r>
              <a:rPr lang="it-IT" sz="1000" dirty="0" err="1">
                <a:solidFill>
                  <a:schemeClr val="tx1"/>
                </a:solidFill>
              </a:rPr>
              <a:t>central-only</a:t>
            </a:r>
            <a:r>
              <a:rPr lang="it-IT" sz="1000" dirty="0">
                <a:solidFill>
                  <a:schemeClr val="tx1"/>
                </a:solidFill>
              </a:rPr>
              <a:t>/single-ring/double-ring sensing; </a:t>
            </a:r>
            <a:r>
              <a:rPr lang="it-IT" sz="1000" dirty="0" err="1">
                <a:solidFill>
                  <a:schemeClr val="tx1"/>
                </a:solidFill>
              </a:rPr>
              <a:t>current</a:t>
            </a:r>
            <a:r>
              <a:rPr lang="it-IT" sz="1000" dirty="0">
                <a:solidFill>
                  <a:schemeClr val="tx1"/>
                </a:solidFill>
              </a:rPr>
              <a:t> + 9 </a:t>
            </a:r>
            <a:r>
              <a:rPr lang="it-IT" sz="1000" dirty="0" err="1">
                <a:solidFill>
                  <a:schemeClr val="tx1"/>
                </a:solidFill>
              </a:rPr>
              <a:t>previous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measurements</a:t>
            </a:r>
            <a:endParaRPr sz="1000" dirty="0">
              <a:solidFill>
                <a:schemeClr val="tx1"/>
              </a:solidFill>
            </a:endParaRPr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000" b="1" dirty="0" err="1"/>
              <a:t>Actor-critic</a:t>
            </a:r>
            <a:r>
              <a:rPr lang="it-IT" sz="1000" b="1" dirty="0"/>
              <a:t> networks:</a:t>
            </a:r>
            <a:r>
              <a:rPr lang="it-IT" sz="1000" dirty="0"/>
              <a:t> separate </a:t>
            </a:r>
            <a:r>
              <a:rPr lang="it-IT" sz="1000" dirty="0" err="1"/>
              <a:t>MLPs</a:t>
            </a:r>
            <a:r>
              <a:rPr lang="it-IT" sz="1000" dirty="0"/>
              <a:t>, </a:t>
            </a:r>
            <a:r>
              <a:rPr lang="it-IT" sz="1000" dirty="0" err="1"/>
              <a:t>each</a:t>
            </a:r>
            <a:r>
              <a:rPr lang="it-IT" sz="1000" dirty="0"/>
              <a:t> with </a:t>
            </a:r>
            <a:r>
              <a:rPr lang="it-IT" sz="1000" dirty="0" err="1"/>
              <a:t>two</a:t>
            </a:r>
            <a:r>
              <a:rPr lang="it-IT" sz="1000" dirty="0"/>
              <a:t> 256-unit </a:t>
            </a:r>
            <a:r>
              <a:rPr lang="it-IT" sz="1000" dirty="0" err="1"/>
              <a:t>hidden</a:t>
            </a:r>
            <a:r>
              <a:rPr lang="it-IT" sz="1000" dirty="0"/>
              <a:t> </a:t>
            </a:r>
            <a:r>
              <a:rPr lang="it-IT" sz="1000" dirty="0" err="1"/>
              <a:t>layers</a:t>
            </a:r>
            <a:r>
              <a:rPr lang="it-IT" sz="1000" dirty="0"/>
              <a:t> and </a:t>
            </a:r>
            <a:r>
              <a:rPr lang="it-IT" sz="1000" dirty="0" err="1"/>
              <a:t>tanh</a:t>
            </a:r>
            <a:r>
              <a:rPr lang="it-IT" sz="1000" dirty="0"/>
              <a:t> </a:t>
            </a:r>
            <a:r>
              <a:rPr lang="it-IT" sz="1000" dirty="0" err="1"/>
              <a:t>activations</a:t>
            </a:r>
            <a:endParaRPr lang="it-IT" sz="1000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000" b="1" dirty="0"/>
              <a:t>Action </a:t>
            </a:r>
            <a:r>
              <a:rPr lang="it-IT" sz="1000" b="1" dirty="0" err="1"/>
              <a:t>space</a:t>
            </a:r>
            <a:r>
              <a:rPr lang="it-IT" sz="1000" b="1" dirty="0"/>
              <a:t>:</a:t>
            </a:r>
            <a:r>
              <a:rPr lang="it-IT" sz="1000" dirty="0"/>
              <a:t> 40 </a:t>
            </a:r>
            <a:r>
              <a:rPr lang="it-IT" sz="1000" dirty="0" err="1"/>
              <a:t>heading</a:t>
            </a:r>
            <a:r>
              <a:rPr lang="it-IT" sz="1000" dirty="0"/>
              <a:t>-speed </a:t>
            </a:r>
            <a:r>
              <a:rPr lang="it-IT" sz="1000" dirty="0" err="1"/>
              <a:t>combinations</a:t>
            </a:r>
            <a:r>
              <a:rPr lang="it-IT" sz="1000" dirty="0"/>
              <a:t> (8 </a:t>
            </a:r>
            <a:r>
              <a:rPr lang="it-IT" sz="1000" dirty="0" err="1"/>
              <a:t>headings</a:t>
            </a:r>
            <a:r>
              <a:rPr lang="it-IT" sz="1000" dirty="0"/>
              <a:t> × 5 speed </a:t>
            </a:r>
            <a:r>
              <a:rPr lang="it-IT" sz="1000" dirty="0" err="1"/>
              <a:t>levels</a:t>
            </a:r>
            <a:r>
              <a:rPr lang="it-IT" sz="1000" dirty="0"/>
              <a:t>)</a:t>
            </a:r>
            <a:endParaRPr sz="1000" dirty="0"/>
          </a:p>
          <a:p>
            <a:pPr marL="290216" lvl="0" indent="-285750">
              <a:lnSpc>
                <a:spcPct val="100000"/>
              </a:lnSpc>
              <a:buSzPts val="1200"/>
              <a:buFont typeface="Noto Sans Symbols"/>
              <a:buChar char="▪"/>
            </a:pPr>
            <a:r>
              <a:rPr lang="it-IT" sz="1000" b="1" dirty="0"/>
              <a:t>Action </a:t>
            </a:r>
            <a:r>
              <a:rPr lang="it-IT" sz="1000" b="1" dirty="0" err="1"/>
              <a:t>masking</a:t>
            </a:r>
            <a:r>
              <a:rPr lang="it-IT" sz="1000" b="1" dirty="0"/>
              <a:t>:</a:t>
            </a:r>
            <a:r>
              <a:rPr lang="it-IT" sz="1000" dirty="0"/>
              <a:t> </a:t>
            </a:r>
            <a:r>
              <a:rPr lang="it-IT" sz="1000" dirty="0" err="1"/>
              <a:t>exclude</a:t>
            </a:r>
            <a:r>
              <a:rPr lang="it-IT" sz="1000" dirty="0"/>
              <a:t> </a:t>
            </a:r>
            <a:r>
              <a:rPr lang="it-IT" sz="1000" dirty="0" err="1"/>
              <a:t>commands</a:t>
            </a:r>
            <a:r>
              <a:rPr lang="it-IT" sz="1000" dirty="0"/>
              <a:t> </a:t>
            </a:r>
            <a:r>
              <a:rPr lang="it-IT" sz="1000" dirty="0" err="1"/>
              <a:t>whose</a:t>
            </a:r>
            <a:r>
              <a:rPr lang="it-IT" sz="1000" dirty="0"/>
              <a:t> endpoints </a:t>
            </a:r>
            <a:r>
              <a:rPr lang="it-IT" sz="1000" dirty="0" err="1"/>
              <a:t>lie</a:t>
            </a:r>
            <a:r>
              <a:rPr lang="it-IT" sz="1000" dirty="0"/>
              <a:t> on </a:t>
            </a:r>
            <a:r>
              <a:rPr lang="it-IT" sz="1000" dirty="0" err="1"/>
              <a:t>land</a:t>
            </a:r>
            <a:r>
              <a:rPr lang="it-IT" sz="1000" dirty="0"/>
              <a:t> or </a:t>
            </a:r>
            <a:r>
              <a:rPr lang="it-IT" sz="1000" dirty="0" err="1"/>
              <a:t>outside</a:t>
            </a:r>
            <a:r>
              <a:rPr lang="it-IT" sz="1000" dirty="0"/>
              <a:t> the domain </a:t>
            </a:r>
            <a:r>
              <a:rPr lang="it-IT" sz="1000" dirty="0" err="1"/>
              <a:t>before</a:t>
            </a:r>
            <a:r>
              <a:rPr lang="it-IT" sz="1000" dirty="0"/>
              <a:t> </a:t>
            </a:r>
            <a:r>
              <a:rPr lang="it-IT" sz="1000" dirty="0" err="1"/>
              <a:t>selecting</a:t>
            </a:r>
            <a:r>
              <a:rPr lang="it-IT" sz="1000" dirty="0"/>
              <a:t> an action</a:t>
            </a:r>
            <a:endParaRPr sz="1000" dirty="0"/>
          </a:p>
        </p:txBody>
      </p:sp>
      <p:sp>
        <p:nvSpPr>
          <p:cNvPr id="171" name="Google Shape;171;p8"/>
          <p:cNvSpPr txBox="1"/>
          <p:nvPr/>
        </p:nvSpPr>
        <p:spPr>
          <a:xfrm>
            <a:off x="4896006" y="2925123"/>
            <a:ext cx="3922317" cy="156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ourier New"/>
              <a:buNone/>
            </a:pPr>
            <a:r>
              <a:rPr lang="en-US" sz="1200" b="1" i="0" u="none" strike="noStrike" cap="none" dirty="0">
                <a:solidFill>
                  <a:schemeClr val="accent4"/>
                </a:solidFill>
                <a:latin typeface="Verdana"/>
                <a:ea typeface="Verdana"/>
                <a:cs typeface="Verdana"/>
                <a:sym typeface="Verdana"/>
              </a:rPr>
              <a:t>Training</a:t>
            </a:r>
            <a:endParaRPr sz="12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90216" marR="0" lvl="0" indent="-2857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Masked PPO: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clipped policy updates with Generalized Advantage Estimation (GAE)</a:t>
            </a:r>
          </a:p>
          <a:p>
            <a:pPr marL="290216" marR="0" lvl="0" indent="-2857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Parallel sampling: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 environments × 4,096 steps = 24576 transitions per rollout</a:t>
            </a:r>
          </a:p>
          <a:p>
            <a:pPr marL="290216" marR="0" lvl="0" indent="-2857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0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Optimization: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minibatches of 128 transitions, up to 10 epochs per update, clipping parameter ε = 0.15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Hydrodynamic data flow</a:t>
            </a:r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pic>
        <p:nvPicPr>
          <p:cNvPr id="179" name="Google Shape;17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375" y="1478280"/>
            <a:ext cx="8044838" cy="295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General results</a:t>
            </a:r>
            <a:endParaRPr/>
          </a:p>
        </p:txBody>
      </p:sp>
      <p:sp>
        <p:nvSpPr>
          <p:cNvPr id="197" name="Google Shape;197;p10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Experimental results</a:t>
            </a:r>
            <a:endParaRPr/>
          </a:p>
        </p:txBody>
      </p:sp>
      <p:pic>
        <p:nvPicPr>
          <p:cNvPr id="198" name="Google Shape;198;p10" title="paper_SR_vs_vmax.png"/>
          <p:cNvPicPr preferRelativeResize="0"/>
          <p:nvPr/>
        </p:nvPicPr>
        <p:blipFill rotWithShape="1">
          <a:blip r:embed="rId3">
            <a:alphaModFix/>
          </a:blip>
          <a:srcRect t="10080"/>
          <a:stretch/>
        </p:blipFill>
        <p:spPr>
          <a:xfrm>
            <a:off x="199500" y="1620975"/>
            <a:ext cx="4309474" cy="238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 title="paper_steps_vs_vmax.png"/>
          <p:cNvPicPr preferRelativeResize="0"/>
          <p:nvPr/>
        </p:nvPicPr>
        <p:blipFill rotWithShape="1">
          <a:blip r:embed="rId4">
            <a:alphaModFix/>
          </a:blip>
          <a:srcRect t="10362"/>
          <a:stretch/>
        </p:blipFill>
        <p:spPr>
          <a:xfrm>
            <a:off x="4635000" y="1620975"/>
            <a:ext cx="4309500" cy="23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09b92d0dce_0_25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Results single scenario</a:t>
            </a:r>
            <a:endParaRPr/>
          </a:p>
        </p:txBody>
      </p:sp>
      <p:sp>
        <p:nvSpPr>
          <p:cNvPr id="205" name="Google Shape;205;g409b92d0dce_0_25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Experimental results</a:t>
            </a:r>
            <a:endParaRPr/>
          </a:p>
        </p:txBody>
      </p:sp>
      <p:pic>
        <p:nvPicPr>
          <p:cNvPr id="206" name="Google Shape;206;g409b92d0dce_0_25" title="table_v1.2_en.png"/>
          <p:cNvPicPr preferRelativeResize="0"/>
          <p:nvPr/>
        </p:nvPicPr>
        <p:blipFill rotWithShape="1">
          <a:blip r:embed="rId3">
            <a:alphaModFix/>
          </a:blip>
          <a:srcRect t="14248" b="12044"/>
          <a:stretch/>
        </p:blipFill>
        <p:spPr>
          <a:xfrm>
            <a:off x="152400" y="1353977"/>
            <a:ext cx="8839199" cy="2137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409b92d0dce_0_25"/>
          <p:cNvSpPr txBox="1"/>
          <p:nvPr/>
        </p:nvSpPr>
        <p:spPr>
          <a:xfrm>
            <a:off x="515325" y="3752894"/>
            <a:ext cx="8502000" cy="75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0217" lvl="0" indent="-28575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held out sources: 26</a:t>
            </a:r>
            <a:endParaRPr sz="13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90217" lvl="0" indent="-28575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episodes: 26 x 4 winds (V*) x 3 plume ages (Q*) x 5 episodes for combination = 1560 episodes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b92d0dce_0_15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sp>
        <p:nvSpPr>
          <p:cNvPr id="200" name="Google Shape;200;g409b92d0dce_0_15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Experimental results</a:t>
            </a:r>
            <a:endParaRPr/>
          </a:p>
        </p:txBody>
      </p:sp>
      <p:pic>
        <p:nvPicPr>
          <p:cNvPr id="201" name="Google Shape;201;g409b92d0dce_0_15" title="heatmap_v1.2_2x4_SRC114_SRC1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213" y="1353983"/>
            <a:ext cx="7283579" cy="327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endParaRPr/>
          </a:p>
        </p:txBody>
      </p:sp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Video demonstration</a:t>
            </a:r>
            <a:endParaRPr/>
          </a:p>
        </p:txBody>
      </p:sp>
      <p:pic>
        <p:nvPicPr>
          <p:cNvPr id="208" name="Google Shape;208;p11" title="group_SRC128_V2_Q1-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750" y="1354125"/>
            <a:ext cx="3920551" cy="325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1" title="group_SRC129_V1_Q1-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700" y="1354125"/>
            <a:ext cx="3920551" cy="325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12be406ea8_1_50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28" name="Google Shape;228;g412be406ea8_1_50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29" name="Google Shape;229;g412be406ea8_1_50"/>
          <p:cNvSpPr txBox="1">
            <a:spLocks noGrp="1"/>
          </p:cNvSpPr>
          <p:nvPr>
            <p:ph type="body" idx="2"/>
          </p:nvPr>
        </p:nvSpPr>
        <p:spPr>
          <a:xfrm>
            <a:off x="714374" y="1101322"/>
            <a:ext cx="7798133" cy="363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en-US" sz="1150" b="1" dirty="0">
                <a:solidFill>
                  <a:schemeClr val="accent1"/>
                </a:solidFill>
              </a:rPr>
              <a:t>Does RL outperform classical field climbing? </a:t>
            </a:r>
          </a:p>
          <a:p>
            <a:pPr marL="609600" lvl="1" indent="0">
              <a:spcBef>
                <a:spcPts val="0"/>
              </a:spcBef>
              <a:buSzPts val="1200"/>
              <a:buNone/>
            </a:pPr>
            <a:r>
              <a:rPr lang="en-US" sz="1150" b="1" dirty="0"/>
              <a:t>Yes. </a:t>
            </a:r>
            <a:r>
              <a:rPr lang="it-IT" sz="1150" dirty="0"/>
              <a:t>At 1.2 m/s, ring-</a:t>
            </a:r>
            <a:r>
              <a:rPr lang="it-IT" sz="1150" dirty="0" err="1"/>
              <a:t>based</a:t>
            </a:r>
            <a:r>
              <a:rPr lang="it-IT" sz="1150" dirty="0"/>
              <a:t> PPO </a:t>
            </a:r>
            <a:r>
              <a:rPr lang="it-IT" sz="1150" dirty="0" err="1"/>
              <a:t>achieves</a:t>
            </a:r>
            <a:r>
              <a:rPr lang="it-IT" sz="1150" dirty="0"/>
              <a:t> </a:t>
            </a:r>
            <a:r>
              <a:rPr lang="it-IT" sz="1150" b="1" dirty="0"/>
              <a:t>98.4-98.7%</a:t>
            </a:r>
            <a:r>
              <a:rPr lang="it-IT" sz="1150" dirty="0"/>
              <a:t> </a:t>
            </a:r>
            <a:r>
              <a:rPr lang="it-IT" sz="1150" b="1" dirty="0"/>
              <a:t>success </a:t>
            </a:r>
            <a:r>
              <a:rPr lang="it-IT" sz="1150" dirty="0"/>
              <a:t>versus</a:t>
            </a:r>
            <a:r>
              <a:rPr lang="it-IT" sz="1150" b="1" dirty="0"/>
              <a:t> 56.4% </a:t>
            </a:r>
            <a:r>
              <a:rPr lang="it-IT" sz="1150" dirty="0"/>
              <a:t>for</a:t>
            </a:r>
            <a:r>
              <a:rPr lang="it-IT" sz="1150" b="1" dirty="0"/>
              <a:t> FCM</a:t>
            </a:r>
            <a:r>
              <a:rPr lang="it-IT" sz="1150" dirty="0"/>
              <a:t>.</a:t>
            </a:r>
            <a:r>
              <a:rPr lang="it-IT" sz="1200" dirty="0"/>
              <a:t> </a:t>
            </a:r>
          </a:p>
          <a:p>
            <a:pPr marL="609600" lvl="1" indent="0">
              <a:spcBef>
                <a:spcPts val="0"/>
              </a:spcBef>
              <a:buSzPts val="1200"/>
              <a:buNone/>
            </a:pPr>
            <a:r>
              <a:rPr lang="it-IT" sz="1200" dirty="0"/>
              <a:t>FCM </a:t>
            </a:r>
            <a:r>
              <a:rPr lang="it-IT" sz="1200" dirty="0" err="1"/>
              <a:t>performs</a:t>
            </a:r>
            <a:r>
              <a:rPr lang="it-IT" sz="1200" dirty="0"/>
              <a:t> </a:t>
            </a:r>
            <a:r>
              <a:rPr lang="it-IT" sz="1200" dirty="0" err="1"/>
              <a:t>poorly</a:t>
            </a:r>
            <a:r>
              <a:rPr lang="it-IT" sz="1200" dirty="0"/>
              <a:t> in diffuse-</a:t>
            </a:r>
            <a:r>
              <a:rPr lang="it-IT" sz="1200" dirty="0" err="1"/>
              <a:t>plume</a:t>
            </a:r>
            <a:r>
              <a:rPr lang="it-IT" sz="1200" dirty="0"/>
              <a:t> </a:t>
            </a:r>
            <a:r>
              <a:rPr lang="it-IT" sz="1200" dirty="0" err="1"/>
              <a:t>conditions</a:t>
            </a:r>
            <a:r>
              <a:rPr lang="it-IT" sz="1200" dirty="0"/>
              <a:t> (</a:t>
            </a:r>
            <a:r>
              <a:rPr lang="it-IT" sz="1200" b="1" dirty="0"/>
              <a:t>V1, V2 </a:t>
            </a:r>
            <a:r>
              <a:rPr lang="it-IT" sz="1200" dirty="0"/>
              <a:t>and</a:t>
            </a:r>
            <a:r>
              <a:rPr lang="it-IT" sz="1200" b="1" dirty="0"/>
              <a:t> Q1/2</a:t>
            </a:r>
            <a:r>
              <a:rPr lang="it-IT" sz="1200" dirty="0"/>
              <a:t>), and </a:t>
            </a:r>
            <a:r>
              <a:rPr lang="it-IT" sz="1200" dirty="0" err="1"/>
              <a:t>representative</a:t>
            </a:r>
            <a:r>
              <a:rPr lang="it-IT" sz="1200" dirty="0"/>
              <a:t> </a:t>
            </a:r>
            <a:r>
              <a:rPr lang="it-IT" sz="1200" dirty="0" err="1"/>
              <a:t>trajectories</a:t>
            </a:r>
            <a:r>
              <a:rPr lang="it-IT" sz="1200" dirty="0"/>
              <a:t> show trapping </a:t>
            </a:r>
            <a:r>
              <a:rPr lang="it-IT" sz="1200" dirty="0" err="1"/>
              <a:t>at</a:t>
            </a:r>
            <a:r>
              <a:rPr lang="it-IT" sz="1200" dirty="0"/>
              <a:t> </a:t>
            </a:r>
            <a:r>
              <a:rPr lang="it-IT" sz="1200" dirty="0" err="1"/>
              <a:t>local</a:t>
            </a:r>
            <a:r>
              <a:rPr lang="it-IT" sz="1200" dirty="0"/>
              <a:t> </a:t>
            </a:r>
            <a:r>
              <a:rPr lang="it-IT" sz="1200" dirty="0" err="1"/>
              <a:t>concentration</a:t>
            </a:r>
            <a:r>
              <a:rPr lang="it-IT" sz="1200" dirty="0"/>
              <a:t> maxima </a:t>
            </a:r>
            <a:r>
              <a:rPr lang="it-IT" sz="1200" dirty="0" err="1"/>
              <a:t>away</a:t>
            </a:r>
            <a:r>
              <a:rPr lang="it-IT" sz="1200" dirty="0"/>
              <a:t> from the source.</a:t>
            </a:r>
            <a:endParaRPr lang="it-IT" sz="1150" dirty="0"/>
          </a:p>
          <a:p>
            <a:pPr marL="609600" lvl="1" indent="0">
              <a:spcBef>
                <a:spcPts val="0"/>
              </a:spcBef>
              <a:buSzPts val="1200"/>
              <a:buNone/>
            </a:pPr>
            <a:endParaRPr sz="115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▪"/>
            </a:pPr>
            <a:r>
              <a:rPr lang="en-US" sz="1150" b="1" dirty="0">
                <a:solidFill>
                  <a:schemeClr val="accent1"/>
                </a:solidFill>
              </a:rPr>
              <a:t>Does spatial sensing improve performance? </a:t>
            </a:r>
          </a:p>
          <a:p>
            <a:pPr marL="609600" lvl="1" indent="0">
              <a:spcBef>
                <a:spcPts val="0"/>
              </a:spcBef>
              <a:buSzPts val="1200"/>
              <a:buNone/>
            </a:pPr>
            <a:r>
              <a:rPr lang="en-US" sz="1150" b="1" dirty="0"/>
              <a:t>Yes, </a:t>
            </a:r>
            <a:r>
              <a:rPr lang="it-IT" sz="1150" b="1" dirty="0" err="1"/>
              <a:t>across</a:t>
            </a:r>
            <a:r>
              <a:rPr lang="it-IT" sz="1150" b="1" dirty="0"/>
              <a:t> the </a:t>
            </a:r>
            <a:r>
              <a:rPr lang="it-IT" sz="1150" b="1" dirty="0" err="1"/>
              <a:t>evaluated</a:t>
            </a:r>
            <a:r>
              <a:rPr lang="it-IT" sz="1150" b="1" dirty="0"/>
              <a:t> speed range (0.1-2.0 m/s)</a:t>
            </a:r>
            <a:r>
              <a:rPr lang="en-US" sz="1150" b="1" dirty="0"/>
              <a:t>. </a:t>
            </a:r>
            <a:r>
              <a:rPr lang="it-IT" sz="1150" dirty="0"/>
              <a:t>Ring-</a:t>
            </a:r>
            <a:r>
              <a:rPr lang="it-IT" sz="1150" dirty="0" err="1"/>
              <a:t>based</a:t>
            </a:r>
            <a:r>
              <a:rPr lang="it-IT" sz="1150" dirty="0"/>
              <a:t> policies </a:t>
            </a:r>
            <a:r>
              <a:rPr lang="it-IT" sz="1150" dirty="0" err="1"/>
              <a:t>achieve</a:t>
            </a:r>
            <a:r>
              <a:rPr lang="it-IT" sz="1150" dirty="0"/>
              <a:t> </a:t>
            </a:r>
            <a:r>
              <a:rPr lang="it-IT" sz="1150" dirty="0" err="1"/>
              <a:t>higher</a:t>
            </a:r>
            <a:r>
              <a:rPr lang="it-IT" sz="1150" dirty="0"/>
              <a:t> overall success rates and </a:t>
            </a:r>
            <a:r>
              <a:rPr lang="it-IT" sz="1150" dirty="0" err="1"/>
              <a:t>fewer</a:t>
            </a:r>
            <a:r>
              <a:rPr lang="it-IT" sz="1150" dirty="0"/>
              <a:t> </a:t>
            </a:r>
            <a:r>
              <a:rPr lang="it-IT" sz="1150" dirty="0" err="1"/>
              <a:t>mean</a:t>
            </a:r>
            <a:r>
              <a:rPr lang="it-IT" sz="1150" dirty="0"/>
              <a:t> </a:t>
            </a:r>
            <a:r>
              <a:rPr lang="it-IT" sz="1150" dirty="0" err="1"/>
              <a:t>successful</a:t>
            </a:r>
            <a:r>
              <a:rPr lang="it-IT" sz="1150" dirty="0"/>
              <a:t> steps </a:t>
            </a:r>
            <a:r>
              <a:rPr lang="it-IT" sz="1150" dirty="0" err="1"/>
              <a:t>than</a:t>
            </a:r>
            <a:r>
              <a:rPr lang="it-IT" sz="1150" dirty="0"/>
              <a:t> </a:t>
            </a:r>
            <a:r>
              <a:rPr lang="it-IT" sz="1150" dirty="0" err="1"/>
              <a:t>central</a:t>
            </a:r>
            <a:r>
              <a:rPr lang="it-IT" sz="1150" dirty="0"/>
              <a:t>-agent-</a:t>
            </a:r>
            <a:r>
              <a:rPr lang="it-IT" sz="1150" dirty="0" err="1"/>
              <a:t>only</a:t>
            </a:r>
            <a:r>
              <a:rPr lang="it-IT" sz="1150" dirty="0"/>
              <a:t> PPO. At 1.2 m/s, the </a:t>
            </a:r>
            <a:r>
              <a:rPr lang="it-IT" sz="1150" dirty="0" err="1"/>
              <a:t>outer</a:t>
            </a:r>
            <a:r>
              <a:rPr lang="it-IT" sz="1150" dirty="0"/>
              <a:t> ring </a:t>
            </a:r>
            <a:r>
              <a:rPr lang="it-IT" sz="1150" dirty="0" err="1"/>
              <a:t>reduces</a:t>
            </a:r>
            <a:r>
              <a:rPr lang="it-IT" sz="1150" dirty="0"/>
              <a:t> </a:t>
            </a:r>
            <a:r>
              <a:rPr lang="it-IT" sz="1150" dirty="0" err="1"/>
              <a:t>mean</a:t>
            </a:r>
            <a:r>
              <a:rPr lang="it-IT" sz="1150" dirty="0"/>
              <a:t> </a:t>
            </a:r>
            <a:r>
              <a:rPr lang="it-IT" sz="1150" dirty="0" err="1"/>
              <a:t>successful</a:t>
            </a:r>
            <a:r>
              <a:rPr lang="it-IT" sz="1150" dirty="0"/>
              <a:t> steps from </a:t>
            </a:r>
            <a:r>
              <a:rPr lang="it-IT" sz="1150" b="1" dirty="0"/>
              <a:t>95 to 75</a:t>
            </a:r>
            <a:r>
              <a:rPr lang="it-IT" sz="1150" dirty="0"/>
              <a:t>, with </a:t>
            </a:r>
            <a:r>
              <a:rPr lang="it-IT" sz="1150" dirty="0" err="1"/>
              <a:t>similar</a:t>
            </a:r>
            <a:r>
              <a:rPr lang="it-IT" sz="1150" dirty="0"/>
              <a:t> success rates.</a:t>
            </a:r>
            <a:endParaRPr lang="en-US" sz="115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50" b="1" dirty="0"/>
          </a:p>
          <a:p>
            <a:pPr indent="-304800">
              <a:spcBef>
                <a:spcPts val="0"/>
              </a:spcBef>
              <a:buSzPts val="1200"/>
              <a:buFont typeface="Courier New"/>
              <a:buChar char="▪"/>
            </a:pPr>
            <a:r>
              <a:rPr lang="en-US" sz="1150" b="1" dirty="0">
                <a:solidFill>
                  <a:schemeClr val="accent1"/>
                </a:solidFill>
              </a:rPr>
              <a:t>Which reward works best? </a:t>
            </a:r>
          </a:p>
          <a:p>
            <a:pPr marL="609600" lvl="1" indent="0">
              <a:spcBef>
                <a:spcPts val="0"/>
              </a:spcBef>
              <a:buSzPts val="1200"/>
              <a:buNone/>
            </a:pPr>
            <a:r>
              <a:rPr lang="it-IT" sz="1150" b="1" dirty="0"/>
              <a:t>The minimal </a:t>
            </a:r>
            <a:r>
              <a:rPr lang="it-IT" sz="1150" b="1" dirty="0" err="1"/>
              <a:t>variant</a:t>
            </a:r>
            <a:r>
              <a:rPr lang="it-IT" sz="1150" b="1" dirty="0"/>
              <a:t> </a:t>
            </a:r>
            <a:r>
              <a:rPr lang="it-IT" sz="1150" dirty="0" err="1"/>
              <a:t>achieves</a:t>
            </a:r>
            <a:r>
              <a:rPr lang="it-IT" sz="1150" dirty="0"/>
              <a:t> the </a:t>
            </a:r>
            <a:r>
              <a:rPr lang="it-IT" sz="1150" dirty="0" err="1"/>
              <a:t>highest</a:t>
            </a:r>
            <a:r>
              <a:rPr lang="it-IT" sz="1150" dirty="0"/>
              <a:t> success rate in the </a:t>
            </a:r>
            <a:r>
              <a:rPr lang="it-IT" sz="1150" dirty="0" err="1"/>
              <a:t>reward</a:t>
            </a:r>
            <a:r>
              <a:rPr lang="it-IT" sz="1150" dirty="0"/>
              <a:t> </a:t>
            </a:r>
            <a:r>
              <a:rPr lang="it-IT" sz="1150" dirty="0" err="1"/>
              <a:t>comparison</a:t>
            </a:r>
            <a:r>
              <a:rPr lang="it-IT" sz="1150" dirty="0"/>
              <a:t>: </a:t>
            </a:r>
            <a:r>
              <a:rPr lang="it-IT" sz="1150" b="1" dirty="0"/>
              <a:t>96.9%</a:t>
            </a:r>
            <a:r>
              <a:rPr lang="it-IT" sz="1150" dirty="0"/>
              <a:t>, </a:t>
            </a:r>
            <a:r>
              <a:rPr lang="it-IT" sz="1150" dirty="0" err="1"/>
              <a:t>without</a:t>
            </a:r>
            <a:r>
              <a:rPr lang="it-IT" sz="1150" dirty="0"/>
              <a:t> explicit wind/</a:t>
            </a:r>
            <a:r>
              <a:rPr lang="it-IT" sz="1150" dirty="0" err="1"/>
              <a:t>current</a:t>
            </a:r>
            <a:r>
              <a:rPr lang="it-IT" sz="1150" dirty="0"/>
              <a:t> </a:t>
            </a:r>
            <a:r>
              <a:rPr lang="it-IT" sz="1150" dirty="0" err="1"/>
              <a:t>alignment</a:t>
            </a:r>
            <a:r>
              <a:rPr lang="it-IT" sz="1150" dirty="0"/>
              <a:t> </a:t>
            </a:r>
            <a:r>
              <a:rPr lang="it-IT" sz="1150" dirty="0" err="1"/>
              <a:t>bonuses</a:t>
            </a:r>
            <a:r>
              <a:rPr lang="it-IT" sz="1150" dirty="0"/>
              <a:t>.</a:t>
            </a:r>
            <a:endParaRPr sz="115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lvl="0" indent="-304800">
              <a:spcBef>
                <a:spcPts val="0"/>
              </a:spcBef>
              <a:buSzPts val="1200"/>
              <a:buChar char="▪"/>
            </a:pPr>
            <a:r>
              <a:rPr lang="it-IT" sz="1150" b="1" dirty="0">
                <a:solidFill>
                  <a:schemeClr val="accent1"/>
                </a:solidFill>
              </a:rPr>
              <a:t>How </a:t>
            </a:r>
            <a:r>
              <a:rPr lang="it-IT" sz="1150" b="1" dirty="0" err="1">
                <a:solidFill>
                  <a:schemeClr val="accent1"/>
                </a:solidFill>
              </a:rPr>
              <a:t>does</a:t>
            </a:r>
            <a:r>
              <a:rPr lang="it-IT" sz="1150" b="1" dirty="0">
                <a:solidFill>
                  <a:schemeClr val="accent1"/>
                </a:solidFill>
              </a:rPr>
              <a:t> the policy use the </a:t>
            </a:r>
            <a:r>
              <a:rPr lang="it-IT" sz="1150" b="1" dirty="0" err="1">
                <a:solidFill>
                  <a:schemeClr val="accent1"/>
                </a:solidFill>
              </a:rPr>
              <a:t>available</a:t>
            </a:r>
            <a:r>
              <a:rPr lang="it-IT" sz="1150" b="1" dirty="0">
                <a:solidFill>
                  <a:schemeClr val="accent1"/>
                </a:solidFill>
              </a:rPr>
              <a:t> information?</a:t>
            </a:r>
            <a:endParaRPr lang="en-US" sz="1150" b="1" dirty="0">
              <a:solidFill>
                <a:schemeClr val="accent1"/>
              </a:solidFill>
            </a:endParaRPr>
          </a:p>
          <a:p>
            <a:pPr marL="609600" lvl="1" indent="0">
              <a:spcBef>
                <a:spcPts val="0"/>
              </a:spcBef>
              <a:buSzPts val="1200"/>
              <a:buNone/>
            </a:pPr>
            <a:r>
              <a:rPr lang="it-IT" sz="1150" dirty="0" err="1"/>
              <a:t>It</a:t>
            </a:r>
            <a:r>
              <a:rPr lang="it-IT" sz="1150" dirty="0"/>
              <a:t> combines </a:t>
            </a:r>
            <a:r>
              <a:rPr lang="it-IT" sz="1150" b="1" dirty="0" err="1"/>
              <a:t>concentration</a:t>
            </a:r>
            <a:r>
              <a:rPr lang="it-IT" sz="1150" b="1" dirty="0"/>
              <a:t> </a:t>
            </a:r>
            <a:r>
              <a:rPr lang="it-IT" sz="1150" dirty="0"/>
              <a:t>and</a:t>
            </a:r>
            <a:r>
              <a:rPr lang="it-IT" sz="1150" b="1" dirty="0"/>
              <a:t> </a:t>
            </a:r>
            <a:r>
              <a:rPr lang="it-IT" sz="1150" b="1" dirty="0" err="1"/>
              <a:t>motion</a:t>
            </a:r>
            <a:r>
              <a:rPr lang="it-IT" sz="1150" b="1" dirty="0"/>
              <a:t> histories </a:t>
            </a:r>
            <a:r>
              <a:rPr lang="it-IT" sz="1150" dirty="0"/>
              <a:t>with</a:t>
            </a:r>
            <a:r>
              <a:rPr lang="it-IT" sz="1150" b="1" dirty="0"/>
              <a:t> </a:t>
            </a:r>
            <a:r>
              <a:rPr lang="it-IT" sz="1150" b="1" dirty="0" err="1"/>
              <a:t>local</a:t>
            </a:r>
            <a:r>
              <a:rPr lang="it-IT" sz="1150" b="1" dirty="0"/>
              <a:t> </a:t>
            </a:r>
            <a:r>
              <a:rPr lang="it-IT" sz="1150" b="1" dirty="0" err="1"/>
              <a:t>current</a:t>
            </a:r>
            <a:r>
              <a:rPr lang="it-IT" sz="1150" b="1" dirty="0"/>
              <a:t> information</a:t>
            </a:r>
            <a:r>
              <a:rPr lang="it-IT" sz="1150" dirty="0"/>
              <a:t>. </a:t>
            </a:r>
          </a:p>
          <a:p>
            <a:pPr marL="609600" lvl="1" indent="0">
              <a:spcBef>
                <a:spcPts val="0"/>
              </a:spcBef>
              <a:buSzPts val="1200"/>
              <a:buNone/>
            </a:pPr>
            <a:r>
              <a:rPr lang="it-IT" sz="1150" dirty="0" err="1"/>
              <a:t>Ablations</a:t>
            </a:r>
            <a:r>
              <a:rPr lang="it-IT" sz="1150" dirty="0"/>
              <a:t> show the </a:t>
            </a:r>
            <a:r>
              <a:rPr lang="it-IT" sz="1150" dirty="0" err="1"/>
              <a:t>strongest</a:t>
            </a:r>
            <a:r>
              <a:rPr lang="it-IT" sz="1150" dirty="0"/>
              <a:t> impact on success from ring-</a:t>
            </a:r>
            <a:r>
              <a:rPr lang="it-IT" sz="1150" dirty="0" err="1"/>
              <a:t>measurement</a:t>
            </a:r>
            <a:r>
              <a:rPr lang="it-IT" sz="1150" dirty="0"/>
              <a:t> history with </a:t>
            </a:r>
            <a:r>
              <a:rPr lang="it-IT" sz="1150" dirty="0" err="1"/>
              <a:t>formation</a:t>
            </a:r>
            <a:r>
              <a:rPr lang="it-IT" sz="1150" dirty="0"/>
              <a:t> and </a:t>
            </a:r>
            <a:r>
              <a:rPr lang="it-IT" sz="1150" dirty="0" err="1"/>
              <a:t>displacement</a:t>
            </a:r>
            <a:r>
              <a:rPr lang="it-IT" sz="1150" dirty="0"/>
              <a:t> history </a:t>
            </a:r>
            <a:r>
              <a:rPr lang="it-IT" sz="1150" dirty="0" err="1"/>
              <a:t>without</a:t>
            </a:r>
            <a:r>
              <a:rPr lang="it-IT" sz="1150" dirty="0"/>
              <a:t> </a:t>
            </a:r>
            <a:r>
              <a:rPr lang="it-IT" sz="1150" dirty="0" err="1"/>
              <a:t>formation</a:t>
            </a:r>
            <a:r>
              <a:rPr lang="it-IT" sz="1150" dirty="0"/>
              <a:t>.</a:t>
            </a:r>
            <a:endParaRPr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09b935f413_2_89"/>
          <p:cNvSpPr txBox="1">
            <a:spLocks noGrp="1"/>
          </p:cNvSpPr>
          <p:nvPr>
            <p:ph type="body" idx="1"/>
          </p:nvPr>
        </p:nvSpPr>
        <p:spPr>
          <a:xfrm>
            <a:off x="246588" y="4934259"/>
            <a:ext cx="759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Shapley Values</a:t>
            </a:r>
            <a:endParaRPr/>
          </a:p>
        </p:txBody>
      </p:sp>
      <p:sp>
        <p:nvSpPr>
          <p:cNvPr id="235" name="Google Shape;235;g409b935f413_2_89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it-IT" dirty="0"/>
              <a:t>Policy </a:t>
            </a:r>
            <a:r>
              <a:rPr lang="it-IT" dirty="0" err="1"/>
              <a:t>interpretation</a:t>
            </a:r>
            <a:r>
              <a:rPr lang="it-IT" dirty="0"/>
              <a:t>: group Shapley </a:t>
            </a:r>
            <a:r>
              <a:rPr lang="it-IT" dirty="0" err="1"/>
              <a:t>analysis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236" name="Google Shape;236;g409b935f413_2_89" title="fig_shapley_clean_dualcorona_en.png"/>
          <p:cNvPicPr preferRelativeResize="0"/>
          <p:nvPr/>
        </p:nvPicPr>
        <p:blipFill rotWithShape="1">
          <a:blip r:embed="rId3">
            <a:alphaModFix/>
          </a:blip>
          <a:srcRect t="3791"/>
          <a:stretch>
            <a:fillRect/>
          </a:stretch>
        </p:blipFill>
        <p:spPr>
          <a:xfrm>
            <a:off x="246588" y="1652043"/>
            <a:ext cx="4526477" cy="315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409b935f413_2_89" title="fig_shapley_clean_noformation_en.png"/>
          <p:cNvPicPr preferRelativeResize="0"/>
          <p:nvPr/>
        </p:nvPicPr>
        <p:blipFill rotWithShape="1">
          <a:blip r:embed="rId4">
            <a:alphaModFix/>
          </a:blip>
          <a:srcRect t="5732"/>
          <a:stretch/>
        </p:blipFill>
        <p:spPr>
          <a:xfrm>
            <a:off x="4773065" y="1677317"/>
            <a:ext cx="4160324" cy="20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A3FD27-F607-E244-0E81-3CA7CC41D35F}"/>
              </a:ext>
            </a:extLst>
          </p:cNvPr>
          <p:cNvSpPr txBox="1"/>
          <p:nvPr/>
        </p:nvSpPr>
        <p:spPr>
          <a:xfrm>
            <a:off x="1854060" y="1369540"/>
            <a:ext cx="185659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b="1" dirty="0">
                <a:latin typeface="Verdana" panose="020B0604030504040204" pitchFamily="34" charset="0"/>
                <a:ea typeface="Verdana" panose="020B0604030504040204" pitchFamily="34" charset="0"/>
              </a:rPr>
              <a:t>Double-ring PPO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AF44C6C-F66F-4F62-8547-5D2C325F007A}"/>
              </a:ext>
            </a:extLst>
          </p:cNvPr>
          <p:cNvSpPr txBox="1"/>
          <p:nvPr/>
        </p:nvSpPr>
        <p:spPr>
          <a:xfrm>
            <a:off x="5862897" y="1349125"/>
            <a:ext cx="256672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b="1" dirty="0">
                <a:latin typeface="Verdana" panose="020B0604030504040204" pitchFamily="34" charset="0"/>
                <a:ea typeface="Verdana" panose="020B0604030504040204" pitchFamily="34" charset="0"/>
              </a:rPr>
              <a:t>Central-agent-</a:t>
            </a:r>
            <a:r>
              <a:rPr lang="it-IT" b="1" dirty="0" err="1">
                <a:latin typeface="Verdana" panose="020B0604030504040204" pitchFamily="34" charset="0"/>
                <a:ea typeface="Verdana" panose="020B0604030504040204" pitchFamily="34" charset="0"/>
              </a:rPr>
              <a:t>only</a:t>
            </a:r>
            <a:r>
              <a:rPr lang="it-IT" b="1" dirty="0">
                <a:latin typeface="Verdana" panose="020B0604030504040204" pitchFamily="34" charset="0"/>
                <a:ea typeface="Verdana" panose="020B0604030504040204" pitchFamily="34" charset="0"/>
              </a:rPr>
              <a:t> PPO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714375" y="713183"/>
            <a:ext cx="8103948" cy="64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dirty="0"/>
              <a:t>Conclusions</a:t>
            </a:r>
            <a:endParaRPr dirty="0"/>
          </a:p>
        </p:txBody>
      </p:sp>
      <p:sp>
        <p:nvSpPr>
          <p:cNvPr id="243" name="Google Shape;243;p14"/>
          <p:cNvSpPr txBox="1">
            <a:spLocks noGrp="1"/>
          </p:cNvSpPr>
          <p:nvPr>
            <p:ph type="body" idx="3"/>
          </p:nvPr>
        </p:nvSpPr>
        <p:spPr>
          <a:xfrm>
            <a:off x="713184" y="1328115"/>
            <a:ext cx="3709186" cy="40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1100"/>
              <a:buNone/>
            </a:pPr>
            <a:r>
              <a:rPr lang="en-US" sz="1400" dirty="0">
                <a:solidFill>
                  <a:schemeClr val="accent1"/>
                </a:solidFill>
              </a:rPr>
              <a:t>Limitations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44" name="Google Shape;244;p14"/>
          <p:cNvSpPr txBox="1">
            <a:spLocks noGrp="1"/>
          </p:cNvSpPr>
          <p:nvPr>
            <p:ph type="body" idx="1"/>
          </p:nvPr>
        </p:nvSpPr>
        <p:spPr>
          <a:xfrm>
            <a:off x="714378" y="1777447"/>
            <a:ext cx="3709185" cy="297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lvl="0" indent="-304800"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r>
              <a:rPr lang="it-IT" sz="1200" b="1" dirty="0">
                <a:solidFill>
                  <a:schemeClr val="tx1"/>
                </a:solidFill>
              </a:rPr>
              <a:t>Incomplete mission: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plume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detection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is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assumed</a:t>
            </a:r>
            <a:r>
              <a:rPr lang="it-IT" sz="1200" dirty="0">
                <a:solidFill>
                  <a:schemeClr val="tx1"/>
                </a:solidFill>
              </a:rPr>
              <a:t>; source </a:t>
            </a:r>
            <a:r>
              <a:rPr lang="it-IT" sz="1200" dirty="0" err="1">
                <a:solidFill>
                  <a:schemeClr val="tx1"/>
                </a:solidFill>
              </a:rPr>
              <a:t>arrival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is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verified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using</a:t>
            </a:r>
            <a:r>
              <a:rPr lang="it-IT" sz="1200" dirty="0">
                <a:solidFill>
                  <a:schemeClr val="tx1"/>
                </a:solidFill>
              </a:rPr>
              <a:t> ground truth</a:t>
            </a:r>
          </a:p>
          <a:p>
            <a:pPr lvl="0" indent="-304800"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endParaRPr sz="1200" dirty="0">
              <a:solidFill>
                <a:schemeClr val="dk1"/>
              </a:solidFill>
            </a:endParaRPr>
          </a:p>
          <a:p>
            <a:pPr lvl="0" indent="-304800"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r>
              <a:rPr lang="it-IT" sz="1200" b="1" dirty="0" err="1">
                <a:solidFill>
                  <a:schemeClr val="tx1"/>
                </a:solidFill>
              </a:rPr>
              <a:t>Centralized</a:t>
            </a:r>
            <a:r>
              <a:rPr lang="it-IT" sz="1200" b="1" dirty="0">
                <a:solidFill>
                  <a:schemeClr val="tx1"/>
                </a:solidFill>
              </a:rPr>
              <a:t> decision-making:</a:t>
            </a:r>
            <a:r>
              <a:rPr lang="it-IT" sz="1200" dirty="0">
                <a:solidFill>
                  <a:schemeClr val="tx1"/>
                </a:solidFill>
              </a:rPr>
              <a:t> sensing rings </a:t>
            </a:r>
            <a:r>
              <a:rPr lang="it-IT" sz="1200" dirty="0" err="1">
                <a:solidFill>
                  <a:schemeClr val="tx1"/>
                </a:solidFill>
              </a:rPr>
              <a:t>have</a:t>
            </a:r>
            <a:r>
              <a:rPr lang="it-IT" sz="1200" dirty="0">
                <a:solidFill>
                  <a:schemeClr val="tx1"/>
                </a:solidFill>
              </a:rPr>
              <a:t> no </a:t>
            </a:r>
            <a:r>
              <a:rPr lang="it-IT" sz="1200" dirty="0" err="1">
                <a:solidFill>
                  <a:schemeClr val="tx1"/>
                </a:solidFill>
              </a:rPr>
              <a:t>independent</a:t>
            </a:r>
            <a:r>
              <a:rPr lang="it-IT" sz="1200" dirty="0">
                <a:solidFill>
                  <a:schemeClr val="tx1"/>
                </a:solidFill>
              </a:rPr>
              <a:t> policies or </a:t>
            </a:r>
            <a:r>
              <a:rPr lang="it-IT" sz="1200" dirty="0" err="1">
                <a:solidFill>
                  <a:schemeClr val="tx1"/>
                </a:solidFill>
              </a:rPr>
              <a:t>vehicle</a:t>
            </a:r>
            <a:r>
              <a:rPr lang="it-IT" sz="1200" dirty="0">
                <a:solidFill>
                  <a:schemeClr val="tx1"/>
                </a:solidFill>
              </a:rPr>
              <a:t> dynamics</a:t>
            </a:r>
          </a:p>
          <a:p>
            <a:pPr lvl="0" indent="-304800"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US" sz="1200" b="1" dirty="0">
                <a:solidFill>
                  <a:schemeClr val="dk1"/>
                </a:solidFill>
              </a:rPr>
              <a:t>Limited temporal representation:</a:t>
            </a:r>
            <a:r>
              <a:rPr lang="en-US" sz="1200" dirty="0">
                <a:solidFill>
                  <a:schemeClr val="dk1"/>
                </a:solidFill>
              </a:rPr>
              <a:t> fixed observation history; remaining episode time is not provided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US" sz="1200" b="1" dirty="0">
                <a:solidFill>
                  <a:schemeClr val="dk1"/>
                </a:solidFill>
              </a:rPr>
              <a:t>Idealized deployment: </a:t>
            </a:r>
            <a:r>
              <a:rPr lang="en-US" sz="1200" dirty="0">
                <a:solidFill>
                  <a:schemeClr val="dk1"/>
                </a:solidFill>
              </a:rPr>
              <a:t>simplified motion, noise-free sensing, ideal communication; missing readings are zero-filled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endParaRPr lang="en-US"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-US" sz="1200" b="1" dirty="0">
                <a:solidFill>
                  <a:schemeClr val="tx1"/>
                </a:solidFill>
              </a:rPr>
              <a:t>Limited environmental coverage:</a:t>
            </a:r>
            <a:r>
              <a:rPr lang="en-US" sz="1200" dirty="0">
                <a:solidFill>
                  <a:schemeClr val="tx1"/>
                </a:solidFill>
              </a:rPr>
              <a:t> one coastal domain and one representative boundary-forcing regime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45" name="Google Shape;245;p14"/>
          <p:cNvSpPr txBox="1">
            <a:spLocks noGrp="1"/>
          </p:cNvSpPr>
          <p:nvPr>
            <p:ph type="body" idx="4"/>
          </p:nvPr>
        </p:nvSpPr>
        <p:spPr>
          <a:xfrm>
            <a:off x="4720441" y="1328113"/>
            <a:ext cx="3793718" cy="40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1100"/>
              <a:buNone/>
            </a:pPr>
            <a:r>
              <a:rPr lang="en-US" sz="1400" dirty="0">
                <a:solidFill>
                  <a:schemeClr val="accent1"/>
                </a:solidFill>
              </a:rPr>
              <a:t>Future work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2"/>
          </p:nvPr>
        </p:nvSpPr>
        <p:spPr>
          <a:xfrm>
            <a:off x="4572000" y="1834792"/>
            <a:ext cx="4261898" cy="297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lvl="0" indent="-30175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r>
              <a:rPr lang="it-IT" sz="1200" b="1" dirty="0">
                <a:solidFill>
                  <a:schemeClr val="tx1"/>
                </a:solidFill>
              </a:rPr>
              <a:t>End-to-end </a:t>
            </a:r>
            <a:r>
              <a:rPr lang="it-IT" sz="1200" b="1" dirty="0" err="1">
                <a:solidFill>
                  <a:schemeClr val="tx1"/>
                </a:solidFill>
              </a:rPr>
              <a:t>autonomy</a:t>
            </a:r>
            <a:r>
              <a:rPr lang="it-IT" sz="1200" b="1" dirty="0">
                <a:solidFill>
                  <a:schemeClr val="tx1"/>
                </a:solidFill>
              </a:rPr>
              <a:t>: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exploration</a:t>
            </a:r>
            <a:r>
              <a:rPr lang="it-IT" sz="1200" dirty="0">
                <a:solidFill>
                  <a:schemeClr val="tx1"/>
                </a:solidFill>
              </a:rPr>
              <a:t>, </a:t>
            </a:r>
            <a:r>
              <a:rPr lang="it-IT" sz="1200" dirty="0" err="1">
                <a:solidFill>
                  <a:schemeClr val="tx1"/>
                </a:solidFill>
              </a:rPr>
              <a:t>plume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detection</a:t>
            </a:r>
            <a:r>
              <a:rPr lang="it-IT" sz="1200" dirty="0">
                <a:solidFill>
                  <a:schemeClr val="tx1"/>
                </a:solidFill>
              </a:rPr>
              <a:t>, source </a:t>
            </a:r>
            <a:r>
              <a:rPr lang="it-IT" sz="1200" dirty="0" err="1">
                <a:solidFill>
                  <a:schemeClr val="tx1"/>
                </a:solidFill>
              </a:rPr>
              <a:t>seeking</a:t>
            </a:r>
            <a:r>
              <a:rPr lang="it-IT" sz="1200" dirty="0">
                <a:solidFill>
                  <a:schemeClr val="tx1"/>
                </a:solidFill>
              </a:rPr>
              <a:t>, </a:t>
            </a:r>
            <a:r>
              <a:rPr lang="it-IT" sz="1200" dirty="0" err="1">
                <a:solidFill>
                  <a:schemeClr val="tx1"/>
                </a:solidFill>
              </a:rPr>
              <a:t>onboard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arrival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detection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marL="457200" lvl="0" indent="-3100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endParaRPr sz="1200" dirty="0">
              <a:solidFill>
                <a:schemeClr val="dk1"/>
              </a:solidFill>
            </a:endParaRPr>
          </a:p>
          <a:p>
            <a:pPr lvl="0" indent="-30175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r>
              <a:rPr lang="it-IT" sz="1200" b="1" dirty="0">
                <a:solidFill>
                  <a:schemeClr val="tx1"/>
                </a:solidFill>
              </a:rPr>
              <a:t>Cooperative multi-agent control: </a:t>
            </a:r>
            <a:r>
              <a:rPr lang="it-IT" sz="1200" dirty="0" err="1">
                <a:solidFill>
                  <a:schemeClr val="tx1"/>
                </a:solidFill>
              </a:rPr>
              <a:t>decentralized</a:t>
            </a:r>
            <a:r>
              <a:rPr lang="it-IT" sz="1200" dirty="0">
                <a:solidFill>
                  <a:schemeClr val="tx1"/>
                </a:solidFill>
              </a:rPr>
              <a:t> policies and information sharing, e.g. MAPPO/CTDE</a:t>
            </a:r>
            <a:endParaRPr lang="en-US" sz="1200" dirty="0">
              <a:solidFill>
                <a:schemeClr val="tx1"/>
              </a:solidFill>
            </a:endParaRPr>
          </a:p>
          <a:p>
            <a:pPr marL="457200" lvl="0" indent="-3100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endParaRPr sz="1200" dirty="0">
              <a:solidFill>
                <a:schemeClr val="dk1"/>
              </a:solidFill>
            </a:endParaRPr>
          </a:p>
          <a:p>
            <a:pPr indent="-30175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Fira Sans"/>
              <a:buChar char="■"/>
            </a:pPr>
            <a:r>
              <a:rPr lang="it-IT" sz="1200" b="1" dirty="0">
                <a:solidFill>
                  <a:schemeClr val="tx1"/>
                </a:solidFill>
              </a:rPr>
              <a:t>Time-</a:t>
            </a:r>
            <a:r>
              <a:rPr lang="it-IT" sz="1200" b="1" dirty="0" err="1">
                <a:solidFill>
                  <a:schemeClr val="tx1"/>
                </a:solidFill>
              </a:rPr>
              <a:t>aware</a:t>
            </a:r>
            <a:r>
              <a:rPr lang="it-IT" sz="1200" b="1" dirty="0">
                <a:solidFill>
                  <a:schemeClr val="tx1"/>
                </a:solidFill>
              </a:rPr>
              <a:t> policies: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remaining</a:t>
            </a:r>
            <a:r>
              <a:rPr lang="it-IT" sz="1200" dirty="0">
                <a:solidFill>
                  <a:schemeClr val="tx1"/>
                </a:solidFill>
              </a:rPr>
              <a:t>-time input and </a:t>
            </a:r>
            <a:r>
              <a:rPr lang="it-IT" sz="1200" dirty="0" err="1">
                <a:solidFill>
                  <a:schemeClr val="tx1"/>
                </a:solidFill>
              </a:rPr>
              <a:t>learned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memory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using</a:t>
            </a:r>
            <a:r>
              <a:rPr lang="it-IT" sz="1200" dirty="0">
                <a:solidFill>
                  <a:schemeClr val="tx1"/>
                </a:solidFill>
              </a:rPr>
              <a:t> LSTM or Transformer models</a:t>
            </a:r>
          </a:p>
          <a:p>
            <a:pPr indent="-30175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Fira Sans"/>
              <a:buChar char="■"/>
            </a:pPr>
            <a:endParaRPr sz="1200" dirty="0">
              <a:solidFill>
                <a:schemeClr val="dk1"/>
              </a:solidFill>
            </a:endParaRPr>
          </a:p>
          <a:p>
            <a:pPr lvl="0" indent="-30175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r>
              <a:rPr lang="it-IT" sz="1200" b="1" dirty="0" err="1">
                <a:solidFill>
                  <a:schemeClr val="tx1"/>
                </a:solidFill>
              </a:rPr>
              <a:t>Realistic</a:t>
            </a:r>
            <a:r>
              <a:rPr lang="it-IT" sz="1200" b="1" dirty="0">
                <a:solidFill>
                  <a:schemeClr val="tx1"/>
                </a:solidFill>
              </a:rPr>
              <a:t> deployment and </a:t>
            </a:r>
            <a:r>
              <a:rPr lang="it-IT" sz="1200" b="1" dirty="0" err="1">
                <a:solidFill>
                  <a:schemeClr val="tx1"/>
                </a:solidFill>
              </a:rPr>
              <a:t>validation</a:t>
            </a:r>
            <a:r>
              <a:rPr lang="it-IT" sz="1200" b="1" dirty="0">
                <a:solidFill>
                  <a:schemeClr val="tx1"/>
                </a:solidFill>
              </a:rPr>
              <a:t>: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vehicle dynamics, sensor noise and delays, domain randomization</a:t>
            </a:r>
          </a:p>
          <a:p>
            <a:pPr lvl="0" indent="-30175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endParaRPr lang="it-IT" sz="1200" dirty="0">
              <a:solidFill>
                <a:schemeClr val="tx1"/>
              </a:solidFill>
            </a:endParaRPr>
          </a:p>
          <a:p>
            <a:pPr lvl="0" indent="-30175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■"/>
            </a:pPr>
            <a:r>
              <a:rPr lang="it-IT" sz="1200" b="1" dirty="0" err="1">
                <a:solidFill>
                  <a:schemeClr val="tx1"/>
                </a:solidFill>
              </a:rPr>
              <a:t>Generalization</a:t>
            </a:r>
            <a:r>
              <a:rPr lang="it-IT" sz="1200" b="1" dirty="0">
                <a:solidFill>
                  <a:schemeClr val="tx1"/>
                </a:solidFill>
              </a:rPr>
              <a:t> </a:t>
            </a:r>
            <a:r>
              <a:rPr lang="it-IT" sz="1200" b="1" dirty="0" err="1">
                <a:solidFill>
                  <a:schemeClr val="tx1"/>
                </a:solidFill>
              </a:rPr>
              <a:t>across</a:t>
            </a:r>
            <a:r>
              <a:rPr lang="it-IT" sz="1200" b="1" dirty="0">
                <a:solidFill>
                  <a:schemeClr val="tx1"/>
                </a:solidFill>
              </a:rPr>
              <a:t> </a:t>
            </a:r>
            <a:r>
              <a:rPr lang="it-IT" sz="1200" b="1" dirty="0" err="1">
                <a:solidFill>
                  <a:schemeClr val="tx1"/>
                </a:solidFill>
              </a:rPr>
              <a:t>hydrodynamic</a:t>
            </a:r>
            <a:r>
              <a:rPr lang="it-IT" sz="1200" b="1" dirty="0">
                <a:solidFill>
                  <a:schemeClr val="tx1"/>
                </a:solidFill>
              </a:rPr>
              <a:t> </a:t>
            </a:r>
            <a:r>
              <a:rPr lang="it-IT" sz="1200" b="1" dirty="0" err="1">
                <a:solidFill>
                  <a:schemeClr val="tx1"/>
                </a:solidFill>
              </a:rPr>
              <a:t>regimes</a:t>
            </a:r>
            <a:r>
              <a:rPr lang="it-IT" sz="1200" b="1" dirty="0">
                <a:solidFill>
                  <a:schemeClr val="tx1"/>
                </a:solidFill>
              </a:rPr>
              <a:t> and </a:t>
            </a:r>
            <a:r>
              <a:rPr lang="it-IT" sz="1200" b="1" dirty="0" err="1">
                <a:solidFill>
                  <a:schemeClr val="tx1"/>
                </a:solidFill>
              </a:rPr>
              <a:t>coastal</a:t>
            </a:r>
            <a:r>
              <a:rPr lang="it-IT" sz="1200" b="1" dirty="0">
                <a:solidFill>
                  <a:schemeClr val="tx1"/>
                </a:solidFill>
              </a:rPr>
              <a:t> domains: </a:t>
            </a:r>
            <a:r>
              <a:rPr lang="it-IT" sz="1200" dirty="0" err="1">
                <a:solidFill>
                  <a:schemeClr val="tx1"/>
                </a:solidFill>
              </a:rPr>
              <a:t>train</a:t>
            </a:r>
            <a:r>
              <a:rPr lang="it-IT" sz="1200" dirty="0">
                <a:solidFill>
                  <a:schemeClr val="tx1"/>
                </a:solidFill>
              </a:rPr>
              <a:t> under diverse </a:t>
            </a:r>
            <a:r>
              <a:rPr lang="it-IT" sz="1200" dirty="0" err="1">
                <a:solidFill>
                  <a:schemeClr val="tx1"/>
                </a:solidFill>
              </a:rPr>
              <a:t>hydrodynamic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conditions</a:t>
            </a:r>
            <a:r>
              <a:rPr lang="it-IT" sz="1200" dirty="0">
                <a:solidFill>
                  <a:schemeClr val="tx1"/>
                </a:solidFill>
              </a:rPr>
              <a:t>, </a:t>
            </a:r>
            <a:r>
              <a:rPr lang="it-IT" sz="1200" dirty="0" err="1">
                <a:solidFill>
                  <a:schemeClr val="tx1"/>
                </a:solidFill>
              </a:rPr>
              <a:t>assess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generalization</a:t>
            </a:r>
            <a:r>
              <a:rPr lang="it-IT" sz="1200" dirty="0">
                <a:solidFill>
                  <a:schemeClr val="tx1"/>
                </a:solidFill>
              </a:rPr>
              <a:t> to </a:t>
            </a:r>
            <a:r>
              <a:rPr lang="it-IT" sz="1200" dirty="0" err="1">
                <a:solidFill>
                  <a:schemeClr val="tx1"/>
                </a:solidFill>
              </a:rPr>
              <a:t>unseen</a:t>
            </a:r>
            <a:r>
              <a:rPr lang="it-IT" sz="1200" dirty="0">
                <a:solidFill>
                  <a:schemeClr val="tx1"/>
                </a:solidFill>
              </a:rPr>
              <a:t> </a:t>
            </a:r>
            <a:r>
              <a:rPr lang="it-IT" sz="1200" dirty="0" err="1">
                <a:solidFill>
                  <a:schemeClr val="tx1"/>
                </a:solidFill>
              </a:rPr>
              <a:t>environments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47" name="Google Shape;247;p14"/>
          <p:cNvSpPr txBox="1">
            <a:spLocks noGrp="1"/>
          </p:cNvSpPr>
          <p:nvPr>
            <p:ph type="body" idx="5"/>
          </p:nvPr>
        </p:nvSpPr>
        <p:spPr>
          <a:xfrm>
            <a:off x="246588" y="4934259"/>
            <a:ext cx="7590251" cy="18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</a:pPr>
            <a:r>
              <a:rPr lang="en-US"/>
              <a:t>Limitations and future work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698598" y="1206937"/>
            <a:ext cx="8261306" cy="70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Verdana"/>
              <a:buNone/>
            </a:pPr>
            <a:r>
              <a:rPr lang="en-US"/>
              <a:t>Thank you for your attention</a:t>
            </a:r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body" idx="2"/>
          </p:nvPr>
        </p:nvSpPr>
        <p:spPr>
          <a:xfrm>
            <a:off x="698598" y="2366733"/>
            <a:ext cx="8261350" cy="3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46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body" idx="3"/>
          </p:nvPr>
        </p:nvSpPr>
        <p:spPr>
          <a:xfrm>
            <a:off x="698641" y="2800561"/>
            <a:ext cx="8261306" cy="36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</a:pPr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body" idx="4"/>
          </p:nvPr>
        </p:nvSpPr>
        <p:spPr>
          <a:xfrm>
            <a:off x="698598" y="3468284"/>
            <a:ext cx="6249988" cy="23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46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body" idx="5"/>
          </p:nvPr>
        </p:nvSpPr>
        <p:spPr>
          <a:xfrm>
            <a:off x="698643" y="3769619"/>
            <a:ext cx="6249988" cy="21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46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6"/>
          </p:nvPr>
        </p:nvSpPr>
        <p:spPr>
          <a:xfrm>
            <a:off x="698643" y="4042025"/>
            <a:ext cx="6249988" cy="24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</a:pP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248400" y="4956929"/>
            <a:ext cx="7574104" cy="1865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7E"/>
              </a:buClr>
              <a:buSzPts val="75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UniFI">
  <a:themeElements>
    <a:clrScheme name="UNIFI 2025">
      <a:dk1>
        <a:srgbClr val="000000"/>
      </a:dk1>
      <a:lt1>
        <a:srgbClr val="FEFFFF"/>
      </a:lt1>
      <a:dk2>
        <a:srgbClr val="000000"/>
      </a:dk2>
      <a:lt2>
        <a:srgbClr val="FFFFFF"/>
      </a:lt2>
      <a:accent1>
        <a:srgbClr val="004C7E"/>
      </a:accent1>
      <a:accent2>
        <a:srgbClr val="6D8AAF"/>
      </a:accent2>
      <a:accent3>
        <a:srgbClr val="455C79"/>
      </a:accent3>
      <a:accent4>
        <a:srgbClr val="273583"/>
      </a:accent4>
      <a:accent5>
        <a:srgbClr val="A64040"/>
      </a:accent5>
      <a:accent6>
        <a:srgbClr val="931B17"/>
      </a:accent6>
      <a:hlink>
        <a:srgbClr val="004C7E"/>
      </a:hlink>
      <a:folHlink>
        <a:srgbClr val="8401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1658</Words>
  <Application>Microsoft Office PowerPoint</Application>
  <PresentationFormat>On-screen Show (16:9)</PresentationFormat>
  <Paragraphs>172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Fira Sans</vt:lpstr>
      <vt:lpstr>Noto Sans Symbols</vt:lpstr>
      <vt:lpstr>Verdana</vt:lpstr>
      <vt:lpstr>Wingdings</vt:lpstr>
      <vt:lpstr>Template UniFI</vt:lpstr>
      <vt:lpstr>HYDRAS</vt:lpstr>
      <vt:lpstr>Marine source seeking</vt:lpstr>
      <vt:lpstr>Source-seeking methods: main approaches</vt:lpstr>
      <vt:lpstr>Source seeking as a partially observable Markov decision process</vt:lpstr>
      <vt:lpstr>Dataset: hydrodynamic and transport modelling</vt:lpstr>
      <vt:lpstr>Dataset: wind scenarios</vt:lpstr>
      <vt:lpstr>Dataset: training and evaluation setup</vt:lpstr>
      <vt:lpstr>Centralized fixed-formation sensing</vt:lpstr>
      <vt:lpstr>Policy architecture and training: Maskable PPO</vt:lpstr>
      <vt:lpstr>Hydrodynamic data flow</vt:lpstr>
      <vt:lpstr>Experimental results</vt:lpstr>
      <vt:lpstr>Experimental results</vt:lpstr>
      <vt:lpstr>Experimental results</vt:lpstr>
      <vt:lpstr>Video demonstration</vt:lpstr>
      <vt:lpstr>Conclusions</vt:lpstr>
      <vt:lpstr>Policy interpretation: group Shapley analysis </vt:lpstr>
      <vt:lpstr>Conclusions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 Brugnoni</dc:creator>
  <cp:lastModifiedBy>Nicola Forti</cp:lastModifiedBy>
  <cp:revision>62</cp:revision>
  <dcterms:created xsi:type="dcterms:W3CDTF">2023-05-29T14:12:34Z</dcterms:created>
  <dcterms:modified xsi:type="dcterms:W3CDTF">2026-09-22T08:18:33Z</dcterms:modified>
</cp:coreProperties>
</file>